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837" r:id="rId2"/>
    <p:sldId id="2843" r:id="rId3"/>
    <p:sldId id="2858" r:id="rId4"/>
    <p:sldId id="2859" r:id="rId5"/>
    <p:sldId id="2863" r:id="rId6"/>
    <p:sldId id="2842" r:id="rId7"/>
    <p:sldId id="2854" r:id="rId8"/>
    <p:sldId id="2868" r:id="rId9"/>
    <p:sldId id="2869" r:id="rId10"/>
    <p:sldId id="2848" r:id="rId11"/>
    <p:sldId id="2872" r:id="rId12"/>
    <p:sldId id="2862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5BB5"/>
    <a:srgbClr val="FFC208"/>
    <a:srgbClr val="005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79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84" y="6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5F46AF-8510-40B5-9E0C-75627CDA9C24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B0AFDC-836C-4ED5-B957-2FE30670CEC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696000" y="1014463"/>
            <a:ext cx="10800000" cy="0"/>
          </a:xfrm>
          <a:prstGeom prst="line">
            <a:avLst/>
          </a:prstGeom>
          <a:ln w="12700">
            <a:solidFill>
              <a:srgbClr val="3B46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6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3797" y="367263"/>
            <a:ext cx="2112253" cy="565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tif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454963" y="1558120"/>
            <a:ext cx="9396184" cy="1585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C000">
                        <a:lumMod val="60000"/>
                        <a:lumOff val="40000"/>
                      </a:srgbClr>
                    </a:gs>
                    <a:gs pos="100000">
                      <a:prstClr val="white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“鸟类活动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C000">
                        <a:lumMod val="60000"/>
                        <a:lumOff val="40000"/>
                      </a:srgbClr>
                    </a:gs>
                    <a:gs pos="100000">
                      <a:prstClr val="white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AI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C000">
                        <a:lumMod val="60000"/>
                        <a:lumOff val="40000"/>
                      </a:srgbClr>
                    </a:gs>
                    <a:gs pos="100000">
                      <a:prstClr val="white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监测员”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FFC000">
                      <a:lumMod val="60000"/>
                      <a:lumOff val="40000"/>
                    </a:srgbClr>
                  </a:gs>
                  <a:gs pos="100000">
                    <a:prstClr val="white"/>
                  </a:gs>
                </a:gsLst>
                <a:lin ang="5400000" scaled="1"/>
                <a:tileRect/>
              </a:gradFill>
              <a:effectLst/>
              <a:uLnTx/>
              <a:uFillTx/>
              <a:latin typeface="华文新魏" pitchFamily="2" charset="-122"/>
              <a:ea typeface="华文新魏" pitchFamily="2" charset="-122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C000">
                        <a:lumMod val="60000"/>
                        <a:lumOff val="40000"/>
                      </a:srgbClr>
                    </a:gs>
                    <a:gs pos="100000">
                      <a:prstClr val="white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——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C000">
                        <a:lumMod val="60000"/>
                        <a:lumOff val="40000"/>
                      </a:srgbClr>
                    </a:gs>
                    <a:gs pos="100000">
                      <a:prstClr val="white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基于音频阵列的声音定位和声视觉识别系统</a:t>
            </a:r>
            <a:endParaRPr kumimoji="1" lang="zh-CN" altLang="zh-CN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FFC000">
                      <a:lumMod val="60000"/>
                      <a:lumOff val="40000"/>
                    </a:srgbClr>
                  </a:gs>
                  <a:gs pos="100000">
                    <a:prstClr val="white"/>
                  </a:gs>
                </a:gsLst>
                <a:lin ang="5400000" scaled="1"/>
                <a:tileRect/>
              </a:gradFill>
              <a:effectLst/>
              <a:uLnTx/>
              <a:uFillTx/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454963" y="3482892"/>
            <a:ext cx="9282074" cy="309525"/>
            <a:chOff x="1614758" y="3580535"/>
            <a:chExt cx="9282074" cy="309525"/>
          </a:xfrm>
        </p:grpSpPr>
        <p:sp>
          <p:nvSpPr>
            <p:cNvPr id="8" name="文本占位符 2"/>
            <p:cNvSpPr txBox="1"/>
            <p:nvPr/>
          </p:nvSpPr>
          <p:spPr>
            <a:xfrm>
              <a:off x="4101650" y="3580535"/>
              <a:ext cx="4311713" cy="309525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英特尔杯嵌入式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AI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专题赛赛区赛</a:t>
              </a: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1614758" y="3780409"/>
              <a:ext cx="2284830" cy="0"/>
            </a:xfrm>
            <a:prstGeom prst="line">
              <a:avLst/>
            </a:prstGeom>
            <a:ln>
              <a:solidFill>
                <a:srgbClr val="F3D1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8615426" y="3780409"/>
              <a:ext cx="2281406" cy="31193"/>
            </a:xfrm>
            <a:prstGeom prst="line">
              <a:avLst/>
            </a:prstGeom>
            <a:ln>
              <a:solidFill>
                <a:srgbClr val="F3D1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Picture 2" descr="http://vi.xjtu.edu.cn/images/a4-5xbwhi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5576" y="671425"/>
            <a:ext cx="2060848" cy="551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 13"/>
          <p:cNvSpPr/>
          <p:nvPr/>
        </p:nvSpPr>
        <p:spPr>
          <a:xfrm>
            <a:off x="3286800" y="4211591"/>
            <a:ext cx="5731239" cy="1005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方正公文小标宋" charset="-122"/>
                <a:ea typeface="方正公文小标宋" charset="-122"/>
                <a:cs typeface="+mn-cs"/>
              </a:rPr>
              <a:t>耿泽宇   邹子乐   陈冠企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AU" altLang="zh-CN" sz="20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方正公文小标宋" charset="-122"/>
                <a:ea typeface="方正公文小标宋" charset="-122"/>
                <a:cs typeface="+mn-cs"/>
              </a:rPr>
              <a:t>指导老师：张翠翠</a:t>
            </a:r>
            <a:endParaRPr kumimoji="0" lang="zh-CN" altLang="en-US" sz="1400" b="1" i="0" u="none" strike="noStrike" kern="1200" cap="none" spc="0" normalizeH="0" baseline="0" noProof="0" dirty="0">
              <a:ln w="0"/>
              <a:solidFill>
                <a:prstClr val="white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方正公文小标宋" charset="-122"/>
              <a:ea typeface="方正公文小标宋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: 形状 14"/>
          <p:cNvSpPr/>
          <p:nvPr/>
        </p:nvSpPr>
        <p:spPr>
          <a:xfrm>
            <a:off x="13559427" y="508452"/>
            <a:ext cx="2837162" cy="1525356"/>
          </a:xfrm>
          <a:custGeom>
            <a:avLst/>
            <a:gdLst>
              <a:gd name="connsiteX0" fmla="*/ 0 w 2241629"/>
              <a:gd name="connsiteY0" fmla="*/ 0 h 1205177"/>
              <a:gd name="connsiteX1" fmla="*/ 2241629 w 2241629"/>
              <a:gd name="connsiteY1" fmla="*/ 0 h 1205177"/>
              <a:gd name="connsiteX2" fmla="*/ 2241629 w 2241629"/>
              <a:gd name="connsiteY2" fmla="*/ 1205177 h 1205177"/>
              <a:gd name="connsiteX3" fmla="*/ 0 w 2241629"/>
              <a:gd name="connsiteY3" fmla="*/ 1205177 h 1205177"/>
              <a:gd name="connsiteX4" fmla="*/ 0 w 2241629"/>
              <a:gd name="connsiteY4" fmla="*/ 0 h 1205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1629" h="1205177">
                <a:moveTo>
                  <a:pt x="0" y="0"/>
                </a:moveTo>
                <a:lnTo>
                  <a:pt x="2241629" y="0"/>
                </a:lnTo>
                <a:lnTo>
                  <a:pt x="2241629" y="1205177"/>
                </a:lnTo>
                <a:lnTo>
                  <a:pt x="0" y="120517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7160" numCol="1" spcCol="1270" anchor="ctr" anchorCtr="0">
            <a:noAutofit/>
          </a:bodyPr>
          <a:lstStyle/>
          <a:p>
            <a:pPr marL="0" lvl="0" indent="0" algn="l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3600" kern="1200"/>
          </a:p>
        </p:txBody>
      </p:sp>
      <p:sp>
        <p:nvSpPr>
          <p:cNvPr id="34" name="文本框 33"/>
          <p:cNvSpPr txBox="1"/>
          <p:nvPr/>
        </p:nvSpPr>
        <p:spPr>
          <a:xfrm>
            <a:off x="665043" y="328398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699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项目</a:t>
            </a:r>
            <a:r>
              <a:rPr lang="zh-CN" altLang="en-US" sz="3200" b="1" dirty="0">
                <a:solidFill>
                  <a:srgbClr val="005699"/>
                </a:solidFill>
                <a:latin typeface="微软雅黑" pitchFamily="34" charset="-122"/>
                <a:ea typeface="微软雅黑" pitchFamily="34" charset="-122"/>
              </a:rPr>
              <a:t>目标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5699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44" name="直接连接符 43"/>
          <p:cNvCxnSpPr>
            <a:cxnSpLocks/>
          </p:cNvCxnSpPr>
          <p:nvPr/>
        </p:nvCxnSpPr>
        <p:spPr>
          <a:xfrm flipH="1">
            <a:off x="4960610" y="2602996"/>
            <a:ext cx="3246302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63500" sx="102000" sy="102000" algn="ctr" rotWithShape="0">
              <a:srgbClr val="01E2BC">
                <a:alpha val="4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椭圆 44"/>
          <p:cNvSpPr/>
          <p:nvPr/>
        </p:nvSpPr>
        <p:spPr>
          <a:xfrm>
            <a:off x="4123840" y="2127816"/>
            <a:ext cx="794365" cy="828058"/>
          </a:xfrm>
          <a:prstGeom prst="ellipse">
            <a:avLst/>
          </a:prstGeom>
          <a:gradFill flip="none" rotWithShape="1">
            <a:gsLst>
              <a:gs pos="65000">
                <a:srgbClr val="0D69FF">
                  <a:alpha val="0"/>
                </a:srgbClr>
              </a:gs>
              <a:gs pos="100000">
                <a:srgbClr val="0D69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字魂59号-创粗黑" pitchFamily="2" charset="-122"/>
              <a:ea typeface="字魂58号-创中黑" pitchFamily="2" charset="-122"/>
              <a:cs typeface="+mn-ea"/>
              <a:sym typeface="字魂59号-创粗黑" pitchFamily="2" charset="-122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4183862" y="2184247"/>
            <a:ext cx="676059" cy="704734"/>
          </a:xfrm>
          <a:prstGeom prst="ellipse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glow rad="38100">
              <a:srgbClr val="01E2BC">
                <a:alpha val="1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字魂59号-创粗黑" pitchFamily="2" charset="-122"/>
              <a:ea typeface="字魂58号-创中黑" pitchFamily="2" charset="-122"/>
              <a:cs typeface="+mn-ea"/>
              <a:sym typeface="字魂59号-创粗黑" pitchFamily="2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4242116" y="2274976"/>
            <a:ext cx="530900" cy="553189"/>
            <a:chOff x="5853103" y="-4503799"/>
            <a:chExt cx="9790876" cy="9786315"/>
          </a:xfrm>
          <a:solidFill>
            <a:srgbClr val="01E2BC"/>
          </a:solidFill>
        </p:grpSpPr>
        <p:sp>
          <p:nvSpPr>
            <p:cNvPr id="55" name="任意多边形 57"/>
            <p:cNvSpPr/>
            <p:nvPr/>
          </p:nvSpPr>
          <p:spPr>
            <a:xfrm>
              <a:off x="10656176" y="-4503799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7590" tIns="37590" rIns="37590" bIns="3759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222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5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6" name="任意多边形 59"/>
            <p:cNvSpPr/>
            <p:nvPr/>
          </p:nvSpPr>
          <p:spPr>
            <a:xfrm>
              <a:off x="11246705" y="-4467385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7" name="任意多边形 61"/>
            <p:cNvSpPr/>
            <p:nvPr/>
          </p:nvSpPr>
          <p:spPr>
            <a:xfrm>
              <a:off x="11828274" y="-4358663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8" name="任意多边形 63"/>
            <p:cNvSpPr/>
            <p:nvPr/>
          </p:nvSpPr>
          <p:spPr>
            <a:xfrm>
              <a:off x="12392071" y="-4179298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9" name="任意多边形 65"/>
            <p:cNvSpPr/>
            <p:nvPr/>
          </p:nvSpPr>
          <p:spPr>
            <a:xfrm>
              <a:off x="12929560" y="-3932015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60" name="任意多边形 67"/>
            <p:cNvSpPr/>
            <p:nvPr/>
          </p:nvSpPr>
          <p:spPr>
            <a:xfrm>
              <a:off x="13432586" y="-3620557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61" name="任意多边形 69"/>
            <p:cNvSpPr/>
            <p:nvPr/>
          </p:nvSpPr>
          <p:spPr>
            <a:xfrm>
              <a:off x="13893525" y="-3249642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62" name="任意多边形 71"/>
            <p:cNvSpPr/>
            <p:nvPr/>
          </p:nvSpPr>
          <p:spPr>
            <a:xfrm>
              <a:off x="14305379" y="-2824892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63" name="任意多边形 73"/>
            <p:cNvSpPr/>
            <p:nvPr/>
          </p:nvSpPr>
          <p:spPr>
            <a:xfrm>
              <a:off x="14661934" y="-2352753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64" name="任意多边形 75"/>
            <p:cNvSpPr/>
            <p:nvPr/>
          </p:nvSpPr>
          <p:spPr>
            <a:xfrm>
              <a:off x="14957761" y="-1840373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65" name="任意多边形 77"/>
            <p:cNvSpPr/>
            <p:nvPr/>
          </p:nvSpPr>
          <p:spPr>
            <a:xfrm>
              <a:off x="15188373" y="-1295523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66" name="任意多边形 79"/>
            <p:cNvSpPr/>
            <p:nvPr/>
          </p:nvSpPr>
          <p:spPr>
            <a:xfrm>
              <a:off x="15350273" y="-726464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67" name="任意多边形 81"/>
            <p:cNvSpPr/>
            <p:nvPr/>
          </p:nvSpPr>
          <p:spPr>
            <a:xfrm>
              <a:off x="15441032" y="-141828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68" name="任意多边形 83"/>
            <p:cNvSpPr/>
            <p:nvPr/>
          </p:nvSpPr>
          <p:spPr>
            <a:xfrm>
              <a:off x="15459249" y="449531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69" name="任意多边形 85"/>
            <p:cNvSpPr/>
            <p:nvPr/>
          </p:nvSpPr>
          <p:spPr>
            <a:xfrm>
              <a:off x="15404671" y="1038652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70" name="任意多边形 87"/>
            <p:cNvSpPr/>
            <p:nvPr/>
          </p:nvSpPr>
          <p:spPr>
            <a:xfrm>
              <a:off x="15278093" y="1616597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71" name="任意多边形 89"/>
            <p:cNvSpPr/>
            <p:nvPr/>
          </p:nvSpPr>
          <p:spPr>
            <a:xfrm>
              <a:off x="15081455" y="2174617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72" name="任意多边形 91"/>
            <p:cNvSpPr/>
            <p:nvPr/>
          </p:nvSpPr>
          <p:spPr>
            <a:xfrm>
              <a:off x="14817747" y="2704240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73" name="任意多边形 93"/>
            <p:cNvSpPr/>
            <p:nvPr/>
          </p:nvSpPr>
          <p:spPr>
            <a:xfrm>
              <a:off x="14490936" y="3197438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74" name="任意多边形 95"/>
            <p:cNvSpPr/>
            <p:nvPr/>
          </p:nvSpPr>
          <p:spPr>
            <a:xfrm>
              <a:off x="14105994" y="3646736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75" name="任意多边形 97"/>
            <p:cNvSpPr/>
            <p:nvPr/>
          </p:nvSpPr>
          <p:spPr>
            <a:xfrm>
              <a:off x="13668775" y="4045305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76" name="任意多边形 99"/>
            <p:cNvSpPr/>
            <p:nvPr/>
          </p:nvSpPr>
          <p:spPr>
            <a:xfrm>
              <a:off x="13185875" y="4387143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77" name="任意多边形 101"/>
            <p:cNvSpPr/>
            <p:nvPr/>
          </p:nvSpPr>
          <p:spPr>
            <a:xfrm>
              <a:off x="12664621" y="4667055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78" name="任意多边形 103"/>
            <p:cNvSpPr/>
            <p:nvPr/>
          </p:nvSpPr>
          <p:spPr>
            <a:xfrm>
              <a:off x="12112923" y="4880776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79" name="任意多边形 105"/>
            <p:cNvSpPr/>
            <p:nvPr/>
          </p:nvSpPr>
          <p:spPr>
            <a:xfrm>
              <a:off x="11539169" y="5025085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80" name="任意多边形 107"/>
            <p:cNvSpPr/>
            <p:nvPr/>
          </p:nvSpPr>
          <p:spPr>
            <a:xfrm>
              <a:off x="10952012" y="5097796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81" name="任意多边形 109"/>
            <p:cNvSpPr/>
            <p:nvPr/>
          </p:nvSpPr>
          <p:spPr>
            <a:xfrm>
              <a:off x="10360359" y="5097796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82" name="任意多边形 111"/>
            <p:cNvSpPr/>
            <p:nvPr/>
          </p:nvSpPr>
          <p:spPr>
            <a:xfrm>
              <a:off x="9773192" y="5025085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83" name="任意多边形 113"/>
            <p:cNvSpPr/>
            <p:nvPr/>
          </p:nvSpPr>
          <p:spPr>
            <a:xfrm>
              <a:off x="9199427" y="4880776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84" name="任意多边形 115"/>
            <p:cNvSpPr/>
            <p:nvPr/>
          </p:nvSpPr>
          <p:spPr>
            <a:xfrm>
              <a:off x="8647730" y="4667054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85" name="任意多边形 117"/>
            <p:cNvSpPr/>
            <p:nvPr/>
          </p:nvSpPr>
          <p:spPr>
            <a:xfrm>
              <a:off x="8126486" y="4387143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86" name="任意多边形 119"/>
            <p:cNvSpPr/>
            <p:nvPr/>
          </p:nvSpPr>
          <p:spPr>
            <a:xfrm>
              <a:off x="7643576" y="4045305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88" name="任意多边形 121"/>
            <p:cNvSpPr/>
            <p:nvPr/>
          </p:nvSpPr>
          <p:spPr>
            <a:xfrm>
              <a:off x="7206357" y="3646736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89" name="任意多边形 123"/>
            <p:cNvSpPr/>
            <p:nvPr/>
          </p:nvSpPr>
          <p:spPr>
            <a:xfrm>
              <a:off x="6821416" y="3197438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90" name="任意多边形 125"/>
            <p:cNvSpPr/>
            <p:nvPr/>
          </p:nvSpPr>
          <p:spPr>
            <a:xfrm>
              <a:off x="6494615" y="2704240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91" name="任意多边形 127"/>
            <p:cNvSpPr/>
            <p:nvPr/>
          </p:nvSpPr>
          <p:spPr>
            <a:xfrm>
              <a:off x="6230908" y="2174617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92" name="任意多边形 129"/>
            <p:cNvSpPr/>
            <p:nvPr/>
          </p:nvSpPr>
          <p:spPr>
            <a:xfrm>
              <a:off x="6034259" y="1616597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93" name="任意多边形 131"/>
            <p:cNvSpPr/>
            <p:nvPr/>
          </p:nvSpPr>
          <p:spPr>
            <a:xfrm>
              <a:off x="5907692" y="1038652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94" name="任意多边形 133"/>
            <p:cNvSpPr/>
            <p:nvPr/>
          </p:nvSpPr>
          <p:spPr>
            <a:xfrm>
              <a:off x="5853103" y="449531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95" name="任意多边形 135"/>
            <p:cNvSpPr/>
            <p:nvPr/>
          </p:nvSpPr>
          <p:spPr>
            <a:xfrm>
              <a:off x="5871331" y="-141828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96" name="任意多边形 137"/>
            <p:cNvSpPr/>
            <p:nvPr/>
          </p:nvSpPr>
          <p:spPr>
            <a:xfrm>
              <a:off x="5962079" y="-726464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97" name="任意多边形 139"/>
            <p:cNvSpPr/>
            <p:nvPr/>
          </p:nvSpPr>
          <p:spPr>
            <a:xfrm>
              <a:off x="6123989" y="-1295523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98" name="任意多边形 141"/>
            <p:cNvSpPr/>
            <p:nvPr/>
          </p:nvSpPr>
          <p:spPr>
            <a:xfrm>
              <a:off x="6354591" y="-1840373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99" name="任意多边形 143"/>
            <p:cNvSpPr/>
            <p:nvPr/>
          </p:nvSpPr>
          <p:spPr>
            <a:xfrm>
              <a:off x="6650428" y="-2352754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100" name="任意多边形 145"/>
            <p:cNvSpPr/>
            <p:nvPr/>
          </p:nvSpPr>
          <p:spPr>
            <a:xfrm>
              <a:off x="7006972" y="-2824893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101" name="任意多边形 147"/>
            <p:cNvSpPr/>
            <p:nvPr/>
          </p:nvSpPr>
          <p:spPr>
            <a:xfrm>
              <a:off x="7418826" y="-3249643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102" name="任意多边形 149"/>
            <p:cNvSpPr/>
            <p:nvPr/>
          </p:nvSpPr>
          <p:spPr>
            <a:xfrm>
              <a:off x="7879776" y="-3620557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103" name="任意多边形 151"/>
            <p:cNvSpPr/>
            <p:nvPr/>
          </p:nvSpPr>
          <p:spPr>
            <a:xfrm>
              <a:off x="8382802" y="-3932015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7590" tIns="37590" rIns="37590" bIns="3759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222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5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104" name="任意多边形 153"/>
            <p:cNvSpPr/>
            <p:nvPr/>
          </p:nvSpPr>
          <p:spPr>
            <a:xfrm>
              <a:off x="8920291" y="-4179298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7590" tIns="37590" rIns="37590" bIns="3759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222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5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105" name="任意多边形 155"/>
            <p:cNvSpPr/>
            <p:nvPr/>
          </p:nvSpPr>
          <p:spPr>
            <a:xfrm>
              <a:off x="9484077" y="-4358663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7590" tIns="37590" rIns="37590" bIns="3759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222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5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106" name="任意多边形 157"/>
            <p:cNvSpPr/>
            <p:nvPr/>
          </p:nvSpPr>
          <p:spPr>
            <a:xfrm>
              <a:off x="10065646" y="-4467374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7590" tIns="37590" rIns="37590" bIns="3759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222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5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4222572" y="2218194"/>
            <a:ext cx="579600" cy="648039"/>
            <a:chOff x="4981968" y="4909761"/>
            <a:chExt cx="561350" cy="602097"/>
          </a:xfrm>
          <a:solidFill>
            <a:schemeClr val="bg1"/>
          </a:solidFill>
          <a:effectLst>
            <a:glow rad="50800">
              <a:schemeClr val="bg1">
                <a:alpha val="10000"/>
              </a:schemeClr>
            </a:glow>
          </a:effectLst>
        </p:grpSpPr>
        <p:sp>
          <p:nvSpPr>
            <p:cNvPr id="52" name="任意多边形 434"/>
            <p:cNvSpPr/>
            <p:nvPr/>
          </p:nvSpPr>
          <p:spPr>
            <a:xfrm>
              <a:off x="4981968" y="4909761"/>
              <a:ext cx="561350" cy="194436"/>
            </a:xfrm>
            <a:custGeom>
              <a:avLst/>
              <a:gdLst>
                <a:gd name="connsiteX0" fmla="*/ 280675 w 561350"/>
                <a:gd name="connsiteY0" fmla="*/ 0 h 194436"/>
                <a:gd name="connsiteX1" fmla="*/ 558070 w 561350"/>
                <a:gd name="connsiteY1" fmla="*/ 183869 h 194436"/>
                <a:gd name="connsiteX2" fmla="*/ 561350 w 561350"/>
                <a:gd name="connsiteY2" fmla="*/ 194436 h 194436"/>
                <a:gd name="connsiteX3" fmla="*/ 528660 w 561350"/>
                <a:gd name="connsiteY3" fmla="*/ 194436 h 194436"/>
                <a:gd name="connsiteX4" fmla="*/ 504584 w 561350"/>
                <a:gd name="connsiteY4" fmla="*/ 150079 h 194436"/>
                <a:gd name="connsiteX5" fmla="*/ 280675 w 561350"/>
                <a:gd name="connsiteY5" fmla="*/ 31028 h 194436"/>
                <a:gd name="connsiteX6" fmla="*/ 56766 w 561350"/>
                <a:gd name="connsiteY6" fmla="*/ 150079 h 194436"/>
                <a:gd name="connsiteX7" fmla="*/ 32690 w 561350"/>
                <a:gd name="connsiteY7" fmla="*/ 194436 h 194436"/>
                <a:gd name="connsiteX8" fmla="*/ 0 w 561350"/>
                <a:gd name="connsiteY8" fmla="*/ 194436 h 194436"/>
                <a:gd name="connsiteX9" fmla="*/ 3280 w 561350"/>
                <a:gd name="connsiteY9" fmla="*/ 183869 h 194436"/>
                <a:gd name="connsiteX10" fmla="*/ 280675 w 561350"/>
                <a:gd name="connsiteY10" fmla="*/ 0 h 194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61350" h="194436">
                  <a:moveTo>
                    <a:pt x="280675" y="0"/>
                  </a:moveTo>
                  <a:cubicBezTo>
                    <a:pt x="405375" y="0"/>
                    <a:pt x="512368" y="75817"/>
                    <a:pt x="558070" y="183869"/>
                  </a:cubicBezTo>
                  <a:lnTo>
                    <a:pt x="561350" y="194436"/>
                  </a:lnTo>
                  <a:lnTo>
                    <a:pt x="528660" y="194436"/>
                  </a:lnTo>
                  <a:lnTo>
                    <a:pt x="504584" y="150079"/>
                  </a:lnTo>
                  <a:cubicBezTo>
                    <a:pt x="456059" y="78252"/>
                    <a:pt x="373882" y="31028"/>
                    <a:pt x="280675" y="31028"/>
                  </a:cubicBezTo>
                  <a:cubicBezTo>
                    <a:pt x="187468" y="31028"/>
                    <a:pt x="105292" y="78252"/>
                    <a:pt x="56766" y="150079"/>
                  </a:cubicBezTo>
                  <a:lnTo>
                    <a:pt x="32690" y="194436"/>
                  </a:lnTo>
                  <a:lnTo>
                    <a:pt x="0" y="194436"/>
                  </a:lnTo>
                  <a:lnTo>
                    <a:pt x="3280" y="183869"/>
                  </a:lnTo>
                  <a:cubicBezTo>
                    <a:pt x="48983" y="75817"/>
                    <a:pt x="155975" y="0"/>
                    <a:pt x="2806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3" name="任意多边形 435"/>
            <p:cNvSpPr/>
            <p:nvPr/>
          </p:nvSpPr>
          <p:spPr>
            <a:xfrm>
              <a:off x="5028091" y="5397417"/>
              <a:ext cx="132191" cy="92909"/>
            </a:xfrm>
            <a:custGeom>
              <a:avLst/>
              <a:gdLst>
                <a:gd name="connsiteX0" fmla="*/ 0 w 132191"/>
                <a:gd name="connsiteY0" fmla="*/ 0 h 92909"/>
                <a:gd name="connsiteX1" fmla="*/ 40042 w 132191"/>
                <a:gd name="connsiteY1" fmla="*/ 0 h 92909"/>
                <a:gd name="connsiteX2" fmla="*/ 43618 w 132191"/>
                <a:gd name="connsiteY2" fmla="*/ 4334 h 92909"/>
                <a:gd name="connsiteX3" fmla="*/ 129449 w 132191"/>
                <a:gd name="connsiteY3" fmla="*/ 62202 h 92909"/>
                <a:gd name="connsiteX4" fmla="*/ 132191 w 132191"/>
                <a:gd name="connsiteY4" fmla="*/ 63053 h 92909"/>
                <a:gd name="connsiteX5" fmla="*/ 124191 w 132191"/>
                <a:gd name="connsiteY5" fmla="*/ 92909 h 92909"/>
                <a:gd name="connsiteX6" fmla="*/ 117372 w 132191"/>
                <a:gd name="connsiteY6" fmla="*/ 90792 h 92909"/>
                <a:gd name="connsiteX7" fmla="*/ 21678 w 132191"/>
                <a:gd name="connsiteY7" fmla="*/ 26274 h 92909"/>
                <a:gd name="connsiteX8" fmla="*/ 0 w 132191"/>
                <a:gd name="connsiteY8" fmla="*/ 0 h 92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2191" h="92909">
                  <a:moveTo>
                    <a:pt x="0" y="0"/>
                  </a:moveTo>
                  <a:lnTo>
                    <a:pt x="40042" y="0"/>
                  </a:lnTo>
                  <a:lnTo>
                    <a:pt x="43618" y="4334"/>
                  </a:lnTo>
                  <a:cubicBezTo>
                    <a:pt x="68051" y="28767"/>
                    <a:pt x="97144" y="48539"/>
                    <a:pt x="129449" y="62202"/>
                  </a:cubicBezTo>
                  <a:lnTo>
                    <a:pt x="132191" y="63053"/>
                  </a:lnTo>
                  <a:lnTo>
                    <a:pt x="124191" y="92909"/>
                  </a:lnTo>
                  <a:lnTo>
                    <a:pt x="117372" y="90792"/>
                  </a:lnTo>
                  <a:cubicBezTo>
                    <a:pt x="81354" y="75558"/>
                    <a:pt x="48918" y="53514"/>
                    <a:pt x="21678" y="26274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4" name="任意多边形 436"/>
            <p:cNvSpPr/>
            <p:nvPr/>
          </p:nvSpPr>
          <p:spPr>
            <a:xfrm>
              <a:off x="5195981" y="5397408"/>
              <a:ext cx="301221" cy="114450"/>
            </a:xfrm>
            <a:custGeom>
              <a:avLst/>
              <a:gdLst>
                <a:gd name="connsiteX0" fmla="*/ 261179 w 301221"/>
                <a:gd name="connsiteY0" fmla="*/ 0 h 114450"/>
                <a:gd name="connsiteX1" fmla="*/ 301221 w 301221"/>
                <a:gd name="connsiteY1" fmla="*/ 0 h 114450"/>
                <a:gd name="connsiteX2" fmla="*/ 279543 w 301221"/>
                <a:gd name="connsiteY2" fmla="*/ 26274 h 114450"/>
                <a:gd name="connsiteX3" fmla="*/ 66666 w 301221"/>
                <a:gd name="connsiteY3" fmla="*/ 114450 h 114450"/>
                <a:gd name="connsiteX4" fmla="*/ 5993 w 301221"/>
                <a:gd name="connsiteY4" fmla="*/ 108334 h 114450"/>
                <a:gd name="connsiteX5" fmla="*/ 0 w 301221"/>
                <a:gd name="connsiteY5" fmla="*/ 106474 h 114450"/>
                <a:gd name="connsiteX6" fmla="*/ 8000 w 301221"/>
                <a:gd name="connsiteY6" fmla="*/ 76618 h 114450"/>
                <a:gd name="connsiteX7" fmla="*/ 12247 w 301221"/>
                <a:gd name="connsiteY7" fmla="*/ 77936 h 114450"/>
                <a:gd name="connsiteX8" fmla="*/ 66666 w 301221"/>
                <a:gd name="connsiteY8" fmla="*/ 83422 h 114450"/>
                <a:gd name="connsiteX9" fmla="*/ 257603 w 301221"/>
                <a:gd name="connsiteY9" fmla="*/ 4334 h 114450"/>
                <a:gd name="connsiteX10" fmla="*/ 261179 w 301221"/>
                <a:gd name="connsiteY10" fmla="*/ 0 h 114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1221" h="114450">
                  <a:moveTo>
                    <a:pt x="261179" y="0"/>
                  </a:moveTo>
                  <a:lnTo>
                    <a:pt x="301221" y="0"/>
                  </a:lnTo>
                  <a:lnTo>
                    <a:pt x="279543" y="26274"/>
                  </a:lnTo>
                  <a:cubicBezTo>
                    <a:pt x="225063" y="80754"/>
                    <a:pt x="149800" y="114450"/>
                    <a:pt x="66666" y="114450"/>
                  </a:cubicBezTo>
                  <a:cubicBezTo>
                    <a:pt x="45883" y="114450"/>
                    <a:pt x="25592" y="112344"/>
                    <a:pt x="5993" y="108334"/>
                  </a:cubicBezTo>
                  <a:lnTo>
                    <a:pt x="0" y="106474"/>
                  </a:lnTo>
                  <a:lnTo>
                    <a:pt x="8000" y="76618"/>
                  </a:lnTo>
                  <a:lnTo>
                    <a:pt x="12247" y="77936"/>
                  </a:lnTo>
                  <a:cubicBezTo>
                    <a:pt x="29825" y="81533"/>
                    <a:pt x="48025" y="83422"/>
                    <a:pt x="66666" y="83422"/>
                  </a:cubicBezTo>
                  <a:cubicBezTo>
                    <a:pt x="141232" y="83422"/>
                    <a:pt x="208738" y="53199"/>
                    <a:pt x="257603" y="4334"/>
                  </a:cubicBezTo>
                  <a:lnTo>
                    <a:pt x="26117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</p:grpSp>
      <p:sp>
        <p:nvSpPr>
          <p:cNvPr id="49" name="文本框 181"/>
          <p:cNvSpPr txBox="1"/>
          <p:nvPr/>
        </p:nvSpPr>
        <p:spPr>
          <a:xfrm flipH="1">
            <a:off x="4308264" y="2361316"/>
            <a:ext cx="4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rPr>
              <a:t>01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字魂59号-创粗黑" pitchFamily="2" charset="-122"/>
              <a:ea typeface="字魂58号-创中黑" pitchFamily="2" charset="-122"/>
              <a:cs typeface="+mn-ea"/>
              <a:sym typeface="字魂59号-创粗黑" pitchFamily="2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4936316" y="2127255"/>
            <a:ext cx="5352777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痛点一：发现目标难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4917126" y="2602746"/>
            <a:ext cx="5590165" cy="70205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 Light" pitchFamily="34" charset="-122"/>
                <a:ea typeface="微软雅黑 Light" pitchFamily="34" charset="-122"/>
              </a:rPr>
              <a:t>野外环境复杂，鸟类目标体型小、移动快、易遮挡，传统监测方式往往难以及时发现目标，尤其在远距离和复杂背景下更容易漏检。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360406" y="330883"/>
            <a:ext cx="4668670" cy="7142487"/>
          </a:xfrm>
          <a:prstGeom prst="rect">
            <a:avLst/>
          </a:prstGeom>
        </p:spPr>
      </p:pic>
      <p:sp>
        <p:nvSpPr>
          <p:cNvPr id="233" name="PA-缺角矩形 2">
            <a:extLst>
              <a:ext uri="{FF2B5EF4-FFF2-40B4-BE49-F238E27FC236}">
                <a16:creationId xmlns:a16="http://schemas.microsoft.com/office/drawing/2014/main" id="{7CC8165C-7BD7-4A31-BC18-BB4067C20F24}"/>
              </a:ext>
            </a:extLst>
          </p:cNvPr>
          <p:cNvSpPr/>
          <p:nvPr/>
        </p:nvSpPr>
        <p:spPr>
          <a:xfrm>
            <a:off x="511730" y="1149420"/>
            <a:ext cx="11262360" cy="613208"/>
          </a:xfrm>
          <a:prstGeom prst="plaque">
            <a:avLst>
              <a:gd name="adj" fmla="val 10553"/>
            </a:avLst>
          </a:prstGeom>
          <a:gradFill flip="none" rotWithShape="0">
            <a:gsLst>
              <a:gs pos="100000">
                <a:schemeClr val="accent1">
                  <a:lumMod val="40000"/>
                  <a:lumOff val="60000"/>
                </a:schemeClr>
              </a:gs>
              <a:gs pos="19000">
                <a:schemeClr val="accent2">
                  <a:lumMod val="0"/>
                  <a:lumOff val="100000"/>
                </a:schemeClr>
              </a:gs>
            </a:gsLst>
            <a:lin ang="5400000" scaled="1"/>
            <a:tileRect/>
          </a:gradFill>
          <a:ln w="12700">
            <a:solidFill>
              <a:schemeClr val="accent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gradFill flip="none" rotWithShape="1">
                <a:gsLst>
                  <a:gs pos="0">
                    <a:srgbClr val="A3561D">
                      <a:lumMod val="82000"/>
                      <a:lumOff val="18000"/>
                    </a:srgbClr>
                  </a:gs>
                  <a:gs pos="100000">
                    <a:srgbClr val="A3561D"/>
                  </a:gs>
                </a:gsLst>
                <a:lin ang="2700000" scaled="1"/>
                <a:tileRect/>
              </a:gra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234" name="内容占位符 4">
            <a:extLst>
              <a:ext uri="{FF2B5EF4-FFF2-40B4-BE49-F238E27FC236}">
                <a16:creationId xmlns:a16="http://schemas.microsoft.com/office/drawing/2014/main" id="{A83CA1ED-F030-42C0-9B09-C13B3E5DC691}"/>
              </a:ext>
            </a:extLst>
          </p:cNvPr>
          <p:cNvSpPr/>
          <p:nvPr/>
        </p:nvSpPr>
        <p:spPr>
          <a:xfrm>
            <a:off x="571860" y="1218012"/>
            <a:ext cx="11157597" cy="544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just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just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charset="2"/>
              <a:buChar char="Ø"/>
              <a:defRPr sz="2400" b="1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defRPr sz="2000" b="1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defRPr sz="1800" b="1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defRPr sz="1800" b="1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b="1" dirty="0">
                <a:latin typeface="微软雅黑" pitchFamily="34" charset="-122"/>
                <a:ea typeface="微软雅黑" pitchFamily="34" charset="-122"/>
                <a:cs typeface="OPPOSans M" charset="-122"/>
                <a:sym typeface="+mn-ea"/>
              </a:rPr>
              <a:t>目标：构建低功耗、可远距感知、可自动识别的声视觉协同鸟类监测系统</a:t>
            </a:r>
            <a:endParaRPr lang="zh-CN" altLang="en-US" sz="24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OPPOSans M" charset="-122"/>
            </a:endParaRPr>
          </a:p>
        </p:txBody>
      </p:sp>
      <p:cxnSp>
        <p:nvCxnSpPr>
          <p:cNvPr id="418" name="直接连接符 417">
            <a:extLst>
              <a:ext uri="{FF2B5EF4-FFF2-40B4-BE49-F238E27FC236}">
                <a16:creationId xmlns:a16="http://schemas.microsoft.com/office/drawing/2014/main" id="{5BF04943-5A4B-44EF-82FA-6DAB1B4BE856}"/>
              </a:ext>
            </a:extLst>
          </p:cNvPr>
          <p:cNvCxnSpPr>
            <a:cxnSpLocks/>
          </p:cNvCxnSpPr>
          <p:nvPr/>
        </p:nvCxnSpPr>
        <p:spPr>
          <a:xfrm flipH="1">
            <a:off x="5499893" y="4067926"/>
            <a:ext cx="3246302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63500" sx="102000" sy="102000" algn="ctr" rotWithShape="0">
              <a:srgbClr val="01E2BC">
                <a:alpha val="4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" name="椭圆 418">
            <a:extLst>
              <a:ext uri="{FF2B5EF4-FFF2-40B4-BE49-F238E27FC236}">
                <a16:creationId xmlns:a16="http://schemas.microsoft.com/office/drawing/2014/main" id="{6C4D02ED-C831-49C8-959F-2D86B89D62B8}"/>
              </a:ext>
            </a:extLst>
          </p:cNvPr>
          <p:cNvSpPr/>
          <p:nvPr/>
        </p:nvSpPr>
        <p:spPr>
          <a:xfrm>
            <a:off x="4663123" y="3592746"/>
            <a:ext cx="794365" cy="828058"/>
          </a:xfrm>
          <a:prstGeom prst="ellipse">
            <a:avLst/>
          </a:prstGeom>
          <a:gradFill flip="none" rotWithShape="1">
            <a:gsLst>
              <a:gs pos="65000">
                <a:srgbClr val="0D69FF">
                  <a:alpha val="0"/>
                </a:srgbClr>
              </a:gs>
              <a:gs pos="100000">
                <a:srgbClr val="0D69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字魂59号-创粗黑" pitchFamily="2" charset="-122"/>
              <a:ea typeface="字魂58号-创中黑" pitchFamily="2" charset="-122"/>
              <a:cs typeface="+mn-ea"/>
              <a:sym typeface="字魂59号-创粗黑" pitchFamily="2" charset="-122"/>
            </a:endParaRPr>
          </a:p>
        </p:txBody>
      </p:sp>
      <p:sp>
        <p:nvSpPr>
          <p:cNvPr id="420" name="椭圆 419">
            <a:extLst>
              <a:ext uri="{FF2B5EF4-FFF2-40B4-BE49-F238E27FC236}">
                <a16:creationId xmlns:a16="http://schemas.microsoft.com/office/drawing/2014/main" id="{7CBEF842-7BC8-4514-8B7D-709D2585F63F}"/>
              </a:ext>
            </a:extLst>
          </p:cNvPr>
          <p:cNvSpPr/>
          <p:nvPr/>
        </p:nvSpPr>
        <p:spPr>
          <a:xfrm>
            <a:off x="4723145" y="3649177"/>
            <a:ext cx="676059" cy="704734"/>
          </a:xfrm>
          <a:prstGeom prst="ellipse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glow rad="38100">
              <a:srgbClr val="01E2BC">
                <a:alpha val="1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字魂59号-创粗黑" pitchFamily="2" charset="-122"/>
              <a:ea typeface="字魂58号-创中黑" pitchFamily="2" charset="-122"/>
              <a:cs typeface="+mn-ea"/>
              <a:sym typeface="字魂59号-创粗黑" pitchFamily="2" charset="-122"/>
            </a:endParaRPr>
          </a:p>
        </p:txBody>
      </p:sp>
      <p:grpSp>
        <p:nvGrpSpPr>
          <p:cNvPr id="421" name="组合 420">
            <a:extLst>
              <a:ext uri="{FF2B5EF4-FFF2-40B4-BE49-F238E27FC236}">
                <a16:creationId xmlns:a16="http://schemas.microsoft.com/office/drawing/2014/main" id="{01969B14-27F3-4101-87A7-4D45E42641D2}"/>
              </a:ext>
            </a:extLst>
          </p:cNvPr>
          <p:cNvGrpSpPr/>
          <p:nvPr/>
        </p:nvGrpSpPr>
        <p:grpSpPr>
          <a:xfrm>
            <a:off x="4781399" y="3739906"/>
            <a:ext cx="530900" cy="553189"/>
            <a:chOff x="5853103" y="-4503799"/>
            <a:chExt cx="9790876" cy="9786315"/>
          </a:xfrm>
          <a:solidFill>
            <a:srgbClr val="01E2BC"/>
          </a:solidFill>
        </p:grpSpPr>
        <p:sp>
          <p:nvSpPr>
            <p:cNvPr id="422" name="任意多边形 57">
              <a:extLst>
                <a:ext uri="{FF2B5EF4-FFF2-40B4-BE49-F238E27FC236}">
                  <a16:creationId xmlns:a16="http://schemas.microsoft.com/office/drawing/2014/main" id="{5D91E908-CBB4-47E6-8DEA-05A6A6C75286}"/>
                </a:ext>
              </a:extLst>
            </p:cNvPr>
            <p:cNvSpPr/>
            <p:nvPr/>
          </p:nvSpPr>
          <p:spPr>
            <a:xfrm>
              <a:off x="10656176" y="-4503799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7590" tIns="37590" rIns="37590" bIns="3759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222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5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23" name="任意多边形 59">
              <a:extLst>
                <a:ext uri="{FF2B5EF4-FFF2-40B4-BE49-F238E27FC236}">
                  <a16:creationId xmlns:a16="http://schemas.microsoft.com/office/drawing/2014/main" id="{3FF7E6A5-ABDE-4DC8-8A56-0111F3E7BE5B}"/>
                </a:ext>
              </a:extLst>
            </p:cNvPr>
            <p:cNvSpPr/>
            <p:nvPr/>
          </p:nvSpPr>
          <p:spPr>
            <a:xfrm>
              <a:off x="11246705" y="-4467385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24" name="任意多边形 61">
              <a:extLst>
                <a:ext uri="{FF2B5EF4-FFF2-40B4-BE49-F238E27FC236}">
                  <a16:creationId xmlns:a16="http://schemas.microsoft.com/office/drawing/2014/main" id="{B17FA28D-BEC1-4723-BB75-EF4D20468C2A}"/>
                </a:ext>
              </a:extLst>
            </p:cNvPr>
            <p:cNvSpPr/>
            <p:nvPr/>
          </p:nvSpPr>
          <p:spPr>
            <a:xfrm>
              <a:off x="11828274" y="-4358663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25" name="任意多边形 63">
              <a:extLst>
                <a:ext uri="{FF2B5EF4-FFF2-40B4-BE49-F238E27FC236}">
                  <a16:creationId xmlns:a16="http://schemas.microsoft.com/office/drawing/2014/main" id="{0A85620B-667B-4A2A-9916-277F69A21E76}"/>
                </a:ext>
              </a:extLst>
            </p:cNvPr>
            <p:cNvSpPr/>
            <p:nvPr/>
          </p:nvSpPr>
          <p:spPr>
            <a:xfrm>
              <a:off x="12392071" y="-4179298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26" name="任意多边形 65">
              <a:extLst>
                <a:ext uri="{FF2B5EF4-FFF2-40B4-BE49-F238E27FC236}">
                  <a16:creationId xmlns:a16="http://schemas.microsoft.com/office/drawing/2014/main" id="{F2EFF334-B271-47B5-93F9-619F81679A83}"/>
                </a:ext>
              </a:extLst>
            </p:cNvPr>
            <p:cNvSpPr/>
            <p:nvPr/>
          </p:nvSpPr>
          <p:spPr>
            <a:xfrm>
              <a:off x="12929560" y="-3932015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27" name="任意多边形 67">
              <a:extLst>
                <a:ext uri="{FF2B5EF4-FFF2-40B4-BE49-F238E27FC236}">
                  <a16:creationId xmlns:a16="http://schemas.microsoft.com/office/drawing/2014/main" id="{2529540A-560A-4C0A-8165-0966CC9E4A92}"/>
                </a:ext>
              </a:extLst>
            </p:cNvPr>
            <p:cNvSpPr/>
            <p:nvPr/>
          </p:nvSpPr>
          <p:spPr>
            <a:xfrm>
              <a:off x="13432586" y="-3620557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28" name="任意多边形 69">
              <a:extLst>
                <a:ext uri="{FF2B5EF4-FFF2-40B4-BE49-F238E27FC236}">
                  <a16:creationId xmlns:a16="http://schemas.microsoft.com/office/drawing/2014/main" id="{96B5BC9B-C7A9-486B-9F64-AB99193D8FD2}"/>
                </a:ext>
              </a:extLst>
            </p:cNvPr>
            <p:cNvSpPr/>
            <p:nvPr/>
          </p:nvSpPr>
          <p:spPr>
            <a:xfrm>
              <a:off x="13893525" y="-3249642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29" name="任意多边形 71">
              <a:extLst>
                <a:ext uri="{FF2B5EF4-FFF2-40B4-BE49-F238E27FC236}">
                  <a16:creationId xmlns:a16="http://schemas.microsoft.com/office/drawing/2014/main" id="{0A600019-3EAE-4225-8C89-5DEFF28DDDF9}"/>
                </a:ext>
              </a:extLst>
            </p:cNvPr>
            <p:cNvSpPr/>
            <p:nvPr/>
          </p:nvSpPr>
          <p:spPr>
            <a:xfrm>
              <a:off x="14305379" y="-2824892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30" name="任意多边形 73">
              <a:extLst>
                <a:ext uri="{FF2B5EF4-FFF2-40B4-BE49-F238E27FC236}">
                  <a16:creationId xmlns:a16="http://schemas.microsoft.com/office/drawing/2014/main" id="{3AEF5465-0A3E-4C6F-899A-33EC2D9C85DD}"/>
                </a:ext>
              </a:extLst>
            </p:cNvPr>
            <p:cNvSpPr/>
            <p:nvPr/>
          </p:nvSpPr>
          <p:spPr>
            <a:xfrm>
              <a:off x="14661934" y="-2352753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31" name="任意多边形 75">
              <a:extLst>
                <a:ext uri="{FF2B5EF4-FFF2-40B4-BE49-F238E27FC236}">
                  <a16:creationId xmlns:a16="http://schemas.microsoft.com/office/drawing/2014/main" id="{62E123CA-99E1-482A-8B68-13EED5249166}"/>
                </a:ext>
              </a:extLst>
            </p:cNvPr>
            <p:cNvSpPr/>
            <p:nvPr/>
          </p:nvSpPr>
          <p:spPr>
            <a:xfrm>
              <a:off x="14957761" y="-1840373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32" name="任意多边形 77">
              <a:extLst>
                <a:ext uri="{FF2B5EF4-FFF2-40B4-BE49-F238E27FC236}">
                  <a16:creationId xmlns:a16="http://schemas.microsoft.com/office/drawing/2014/main" id="{24B5F953-87F3-4A6A-B690-264E0A8226A6}"/>
                </a:ext>
              </a:extLst>
            </p:cNvPr>
            <p:cNvSpPr/>
            <p:nvPr/>
          </p:nvSpPr>
          <p:spPr>
            <a:xfrm>
              <a:off x="15188373" y="-1295523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33" name="任意多边形 79">
              <a:extLst>
                <a:ext uri="{FF2B5EF4-FFF2-40B4-BE49-F238E27FC236}">
                  <a16:creationId xmlns:a16="http://schemas.microsoft.com/office/drawing/2014/main" id="{0FCABFFD-0A2D-43EA-8188-A0623BCB6531}"/>
                </a:ext>
              </a:extLst>
            </p:cNvPr>
            <p:cNvSpPr/>
            <p:nvPr/>
          </p:nvSpPr>
          <p:spPr>
            <a:xfrm>
              <a:off x="15350273" y="-726464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34" name="任意多边形 81">
              <a:extLst>
                <a:ext uri="{FF2B5EF4-FFF2-40B4-BE49-F238E27FC236}">
                  <a16:creationId xmlns:a16="http://schemas.microsoft.com/office/drawing/2014/main" id="{D98B5686-7579-4ACE-BBAE-553BB51C218F}"/>
                </a:ext>
              </a:extLst>
            </p:cNvPr>
            <p:cNvSpPr/>
            <p:nvPr/>
          </p:nvSpPr>
          <p:spPr>
            <a:xfrm>
              <a:off x="15441032" y="-141828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35" name="任意多边形 83">
              <a:extLst>
                <a:ext uri="{FF2B5EF4-FFF2-40B4-BE49-F238E27FC236}">
                  <a16:creationId xmlns:a16="http://schemas.microsoft.com/office/drawing/2014/main" id="{450C279A-2875-4E3C-B3C9-11C8A68FA9D2}"/>
                </a:ext>
              </a:extLst>
            </p:cNvPr>
            <p:cNvSpPr/>
            <p:nvPr/>
          </p:nvSpPr>
          <p:spPr>
            <a:xfrm>
              <a:off x="15459249" y="449531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36" name="任意多边形 85">
              <a:extLst>
                <a:ext uri="{FF2B5EF4-FFF2-40B4-BE49-F238E27FC236}">
                  <a16:creationId xmlns:a16="http://schemas.microsoft.com/office/drawing/2014/main" id="{58F1DE85-6B3F-463D-B26C-D86BF4406754}"/>
                </a:ext>
              </a:extLst>
            </p:cNvPr>
            <p:cNvSpPr/>
            <p:nvPr/>
          </p:nvSpPr>
          <p:spPr>
            <a:xfrm>
              <a:off x="15404671" y="1038652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37" name="任意多边形 87">
              <a:extLst>
                <a:ext uri="{FF2B5EF4-FFF2-40B4-BE49-F238E27FC236}">
                  <a16:creationId xmlns:a16="http://schemas.microsoft.com/office/drawing/2014/main" id="{1BC3C89F-52B1-4BD6-9293-4458EE244869}"/>
                </a:ext>
              </a:extLst>
            </p:cNvPr>
            <p:cNvSpPr/>
            <p:nvPr/>
          </p:nvSpPr>
          <p:spPr>
            <a:xfrm>
              <a:off x="15278093" y="1616597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38" name="任意多边形 89">
              <a:extLst>
                <a:ext uri="{FF2B5EF4-FFF2-40B4-BE49-F238E27FC236}">
                  <a16:creationId xmlns:a16="http://schemas.microsoft.com/office/drawing/2014/main" id="{8788251B-216B-45E0-BA07-AF3391C0BC35}"/>
                </a:ext>
              </a:extLst>
            </p:cNvPr>
            <p:cNvSpPr/>
            <p:nvPr/>
          </p:nvSpPr>
          <p:spPr>
            <a:xfrm>
              <a:off x="15081455" y="2174617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39" name="任意多边形 91">
              <a:extLst>
                <a:ext uri="{FF2B5EF4-FFF2-40B4-BE49-F238E27FC236}">
                  <a16:creationId xmlns:a16="http://schemas.microsoft.com/office/drawing/2014/main" id="{24ECF253-C4A6-45CD-89F5-495150F038DE}"/>
                </a:ext>
              </a:extLst>
            </p:cNvPr>
            <p:cNvSpPr/>
            <p:nvPr/>
          </p:nvSpPr>
          <p:spPr>
            <a:xfrm>
              <a:off x="14817747" y="2704240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40" name="任意多边形 93">
              <a:extLst>
                <a:ext uri="{FF2B5EF4-FFF2-40B4-BE49-F238E27FC236}">
                  <a16:creationId xmlns:a16="http://schemas.microsoft.com/office/drawing/2014/main" id="{202CA536-3C9A-433A-AEC7-0B1F895B9144}"/>
                </a:ext>
              </a:extLst>
            </p:cNvPr>
            <p:cNvSpPr/>
            <p:nvPr/>
          </p:nvSpPr>
          <p:spPr>
            <a:xfrm>
              <a:off x="14490936" y="3197438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41" name="任意多边形 95">
              <a:extLst>
                <a:ext uri="{FF2B5EF4-FFF2-40B4-BE49-F238E27FC236}">
                  <a16:creationId xmlns:a16="http://schemas.microsoft.com/office/drawing/2014/main" id="{3D61C1C4-4668-4982-B335-500FCA6DAECC}"/>
                </a:ext>
              </a:extLst>
            </p:cNvPr>
            <p:cNvSpPr/>
            <p:nvPr/>
          </p:nvSpPr>
          <p:spPr>
            <a:xfrm>
              <a:off x="14105994" y="3646736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42" name="任意多边形 97">
              <a:extLst>
                <a:ext uri="{FF2B5EF4-FFF2-40B4-BE49-F238E27FC236}">
                  <a16:creationId xmlns:a16="http://schemas.microsoft.com/office/drawing/2014/main" id="{21A4558A-010E-40E3-B91B-2388833215F2}"/>
                </a:ext>
              </a:extLst>
            </p:cNvPr>
            <p:cNvSpPr/>
            <p:nvPr/>
          </p:nvSpPr>
          <p:spPr>
            <a:xfrm>
              <a:off x="13668775" y="4045305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43" name="任意多边形 99">
              <a:extLst>
                <a:ext uri="{FF2B5EF4-FFF2-40B4-BE49-F238E27FC236}">
                  <a16:creationId xmlns:a16="http://schemas.microsoft.com/office/drawing/2014/main" id="{7D4E196B-4A8B-4E33-A5C9-DBB302BDBBB9}"/>
                </a:ext>
              </a:extLst>
            </p:cNvPr>
            <p:cNvSpPr/>
            <p:nvPr/>
          </p:nvSpPr>
          <p:spPr>
            <a:xfrm>
              <a:off x="13185875" y="4387143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44" name="任意多边形 101">
              <a:extLst>
                <a:ext uri="{FF2B5EF4-FFF2-40B4-BE49-F238E27FC236}">
                  <a16:creationId xmlns:a16="http://schemas.microsoft.com/office/drawing/2014/main" id="{F2CF0531-61A7-451A-92E1-C65FF1D80B20}"/>
                </a:ext>
              </a:extLst>
            </p:cNvPr>
            <p:cNvSpPr/>
            <p:nvPr/>
          </p:nvSpPr>
          <p:spPr>
            <a:xfrm>
              <a:off x="12664621" y="4667055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45" name="任意多边形 103">
              <a:extLst>
                <a:ext uri="{FF2B5EF4-FFF2-40B4-BE49-F238E27FC236}">
                  <a16:creationId xmlns:a16="http://schemas.microsoft.com/office/drawing/2014/main" id="{C81F7FA6-8854-4FFA-9D09-67B09DAC9D63}"/>
                </a:ext>
              </a:extLst>
            </p:cNvPr>
            <p:cNvSpPr/>
            <p:nvPr/>
          </p:nvSpPr>
          <p:spPr>
            <a:xfrm>
              <a:off x="12112923" y="4880776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46" name="任意多边形 105">
              <a:extLst>
                <a:ext uri="{FF2B5EF4-FFF2-40B4-BE49-F238E27FC236}">
                  <a16:creationId xmlns:a16="http://schemas.microsoft.com/office/drawing/2014/main" id="{132C68E1-0C34-4703-8E91-F40CFCE8BCC2}"/>
                </a:ext>
              </a:extLst>
            </p:cNvPr>
            <p:cNvSpPr/>
            <p:nvPr/>
          </p:nvSpPr>
          <p:spPr>
            <a:xfrm>
              <a:off x="11539169" y="5025085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47" name="任意多边形 107">
              <a:extLst>
                <a:ext uri="{FF2B5EF4-FFF2-40B4-BE49-F238E27FC236}">
                  <a16:creationId xmlns:a16="http://schemas.microsoft.com/office/drawing/2014/main" id="{182885CE-4871-40C8-94D8-656EB576DE9E}"/>
                </a:ext>
              </a:extLst>
            </p:cNvPr>
            <p:cNvSpPr/>
            <p:nvPr/>
          </p:nvSpPr>
          <p:spPr>
            <a:xfrm>
              <a:off x="10952012" y="5097796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48" name="任意多边形 109">
              <a:extLst>
                <a:ext uri="{FF2B5EF4-FFF2-40B4-BE49-F238E27FC236}">
                  <a16:creationId xmlns:a16="http://schemas.microsoft.com/office/drawing/2014/main" id="{BE673A75-9985-4FC7-9ED0-6CB8755D5D60}"/>
                </a:ext>
              </a:extLst>
            </p:cNvPr>
            <p:cNvSpPr/>
            <p:nvPr/>
          </p:nvSpPr>
          <p:spPr>
            <a:xfrm>
              <a:off x="10360359" y="5097796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49" name="任意多边形 111">
              <a:extLst>
                <a:ext uri="{FF2B5EF4-FFF2-40B4-BE49-F238E27FC236}">
                  <a16:creationId xmlns:a16="http://schemas.microsoft.com/office/drawing/2014/main" id="{3908F6CA-3446-430B-B6F0-954676956FB4}"/>
                </a:ext>
              </a:extLst>
            </p:cNvPr>
            <p:cNvSpPr/>
            <p:nvPr/>
          </p:nvSpPr>
          <p:spPr>
            <a:xfrm>
              <a:off x="9773192" y="5025085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50" name="任意多边形 113">
              <a:extLst>
                <a:ext uri="{FF2B5EF4-FFF2-40B4-BE49-F238E27FC236}">
                  <a16:creationId xmlns:a16="http://schemas.microsoft.com/office/drawing/2014/main" id="{54911705-811D-4010-8163-A5E07D32B813}"/>
                </a:ext>
              </a:extLst>
            </p:cNvPr>
            <p:cNvSpPr/>
            <p:nvPr/>
          </p:nvSpPr>
          <p:spPr>
            <a:xfrm>
              <a:off x="9199427" y="4880776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51" name="任意多边形 115">
              <a:extLst>
                <a:ext uri="{FF2B5EF4-FFF2-40B4-BE49-F238E27FC236}">
                  <a16:creationId xmlns:a16="http://schemas.microsoft.com/office/drawing/2014/main" id="{AA4F9458-0EDE-4224-A9E1-3699301FC454}"/>
                </a:ext>
              </a:extLst>
            </p:cNvPr>
            <p:cNvSpPr/>
            <p:nvPr/>
          </p:nvSpPr>
          <p:spPr>
            <a:xfrm>
              <a:off x="8647730" y="4667054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52" name="任意多边形 117">
              <a:extLst>
                <a:ext uri="{FF2B5EF4-FFF2-40B4-BE49-F238E27FC236}">
                  <a16:creationId xmlns:a16="http://schemas.microsoft.com/office/drawing/2014/main" id="{3FAD945E-AD0A-4468-8571-C70CBBDBB92D}"/>
                </a:ext>
              </a:extLst>
            </p:cNvPr>
            <p:cNvSpPr/>
            <p:nvPr/>
          </p:nvSpPr>
          <p:spPr>
            <a:xfrm>
              <a:off x="8126486" y="4387143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53" name="任意多边形 119">
              <a:extLst>
                <a:ext uri="{FF2B5EF4-FFF2-40B4-BE49-F238E27FC236}">
                  <a16:creationId xmlns:a16="http://schemas.microsoft.com/office/drawing/2014/main" id="{CF137EF1-EE34-4335-A482-6C9AA9CD8A38}"/>
                </a:ext>
              </a:extLst>
            </p:cNvPr>
            <p:cNvSpPr/>
            <p:nvPr/>
          </p:nvSpPr>
          <p:spPr>
            <a:xfrm>
              <a:off x="7643576" y="4045305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54" name="任意多边形 121">
              <a:extLst>
                <a:ext uri="{FF2B5EF4-FFF2-40B4-BE49-F238E27FC236}">
                  <a16:creationId xmlns:a16="http://schemas.microsoft.com/office/drawing/2014/main" id="{FD38A38C-DC9C-4FBE-B8A2-4762FB19219E}"/>
                </a:ext>
              </a:extLst>
            </p:cNvPr>
            <p:cNvSpPr/>
            <p:nvPr/>
          </p:nvSpPr>
          <p:spPr>
            <a:xfrm>
              <a:off x="7206357" y="3646736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55" name="任意多边形 123">
              <a:extLst>
                <a:ext uri="{FF2B5EF4-FFF2-40B4-BE49-F238E27FC236}">
                  <a16:creationId xmlns:a16="http://schemas.microsoft.com/office/drawing/2014/main" id="{D91D1FD2-546C-4615-936B-FFF95E1B00C4}"/>
                </a:ext>
              </a:extLst>
            </p:cNvPr>
            <p:cNvSpPr/>
            <p:nvPr/>
          </p:nvSpPr>
          <p:spPr>
            <a:xfrm>
              <a:off x="6821416" y="3197438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56" name="任意多边形 125">
              <a:extLst>
                <a:ext uri="{FF2B5EF4-FFF2-40B4-BE49-F238E27FC236}">
                  <a16:creationId xmlns:a16="http://schemas.microsoft.com/office/drawing/2014/main" id="{07F874DD-F519-4351-B263-2E4FEE4080FD}"/>
                </a:ext>
              </a:extLst>
            </p:cNvPr>
            <p:cNvSpPr/>
            <p:nvPr/>
          </p:nvSpPr>
          <p:spPr>
            <a:xfrm>
              <a:off x="6494615" y="2704240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57" name="任意多边形 127">
              <a:extLst>
                <a:ext uri="{FF2B5EF4-FFF2-40B4-BE49-F238E27FC236}">
                  <a16:creationId xmlns:a16="http://schemas.microsoft.com/office/drawing/2014/main" id="{CF1193B8-ADBE-44D9-A464-8A0687EB4197}"/>
                </a:ext>
              </a:extLst>
            </p:cNvPr>
            <p:cNvSpPr/>
            <p:nvPr/>
          </p:nvSpPr>
          <p:spPr>
            <a:xfrm>
              <a:off x="6230908" y="2174617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58" name="任意多边形 129">
              <a:extLst>
                <a:ext uri="{FF2B5EF4-FFF2-40B4-BE49-F238E27FC236}">
                  <a16:creationId xmlns:a16="http://schemas.microsoft.com/office/drawing/2014/main" id="{9E6D5634-B153-4563-B0B9-AD8424FA5B7B}"/>
                </a:ext>
              </a:extLst>
            </p:cNvPr>
            <p:cNvSpPr/>
            <p:nvPr/>
          </p:nvSpPr>
          <p:spPr>
            <a:xfrm>
              <a:off x="6034259" y="1616597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59" name="任意多边形 131">
              <a:extLst>
                <a:ext uri="{FF2B5EF4-FFF2-40B4-BE49-F238E27FC236}">
                  <a16:creationId xmlns:a16="http://schemas.microsoft.com/office/drawing/2014/main" id="{FCA9E482-3A75-475D-B411-C359D9E9A99A}"/>
                </a:ext>
              </a:extLst>
            </p:cNvPr>
            <p:cNvSpPr/>
            <p:nvPr/>
          </p:nvSpPr>
          <p:spPr>
            <a:xfrm>
              <a:off x="5907692" y="1038652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60" name="任意多边形 133">
              <a:extLst>
                <a:ext uri="{FF2B5EF4-FFF2-40B4-BE49-F238E27FC236}">
                  <a16:creationId xmlns:a16="http://schemas.microsoft.com/office/drawing/2014/main" id="{71FB2C4C-6D2E-4AAD-8733-AB33F57720E2}"/>
                </a:ext>
              </a:extLst>
            </p:cNvPr>
            <p:cNvSpPr/>
            <p:nvPr/>
          </p:nvSpPr>
          <p:spPr>
            <a:xfrm>
              <a:off x="5853103" y="449531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61" name="任意多边形 135">
              <a:extLst>
                <a:ext uri="{FF2B5EF4-FFF2-40B4-BE49-F238E27FC236}">
                  <a16:creationId xmlns:a16="http://schemas.microsoft.com/office/drawing/2014/main" id="{36E7486D-DC86-4194-8ABC-914BB680D415}"/>
                </a:ext>
              </a:extLst>
            </p:cNvPr>
            <p:cNvSpPr/>
            <p:nvPr/>
          </p:nvSpPr>
          <p:spPr>
            <a:xfrm>
              <a:off x="5871331" y="-141828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62" name="任意多边形 137">
              <a:extLst>
                <a:ext uri="{FF2B5EF4-FFF2-40B4-BE49-F238E27FC236}">
                  <a16:creationId xmlns:a16="http://schemas.microsoft.com/office/drawing/2014/main" id="{96954D50-488E-457E-891D-AD624423F1A6}"/>
                </a:ext>
              </a:extLst>
            </p:cNvPr>
            <p:cNvSpPr/>
            <p:nvPr/>
          </p:nvSpPr>
          <p:spPr>
            <a:xfrm>
              <a:off x="5962079" y="-726464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63" name="任意多边形 139">
              <a:extLst>
                <a:ext uri="{FF2B5EF4-FFF2-40B4-BE49-F238E27FC236}">
                  <a16:creationId xmlns:a16="http://schemas.microsoft.com/office/drawing/2014/main" id="{595AEAF4-A2D1-4A15-8B1A-6F53D8B93581}"/>
                </a:ext>
              </a:extLst>
            </p:cNvPr>
            <p:cNvSpPr/>
            <p:nvPr/>
          </p:nvSpPr>
          <p:spPr>
            <a:xfrm>
              <a:off x="6123989" y="-1295523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64" name="任意多边形 141">
              <a:extLst>
                <a:ext uri="{FF2B5EF4-FFF2-40B4-BE49-F238E27FC236}">
                  <a16:creationId xmlns:a16="http://schemas.microsoft.com/office/drawing/2014/main" id="{70CA9AE8-C1DE-49B4-AAD3-5D45CDF07A9F}"/>
                </a:ext>
              </a:extLst>
            </p:cNvPr>
            <p:cNvSpPr/>
            <p:nvPr/>
          </p:nvSpPr>
          <p:spPr>
            <a:xfrm>
              <a:off x="6354591" y="-1840373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65" name="任意多边形 143">
              <a:extLst>
                <a:ext uri="{FF2B5EF4-FFF2-40B4-BE49-F238E27FC236}">
                  <a16:creationId xmlns:a16="http://schemas.microsoft.com/office/drawing/2014/main" id="{2F36FFEC-F9B1-4FDD-A5FC-FDD6B59144BC}"/>
                </a:ext>
              </a:extLst>
            </p:cNvPr>
            <p:cNvSpPr/>
            <p:nvPr/>
          </p:nvSpPr>
          <p:spPr>
            <a:xfrm>
              <a:off x="6650428" y="-2352754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66" name="任意多边形 145">
              <a:extLst>
                <a:ext uri="{FF2B5EF4-FFF2-40B4-BE49-F238E27FC236}">
                  <a16:creationId xmlns:a16="http://schemas.microsoft.com/office/drawing/2014/main" id="{76D5A370-330F-4FB5-B0CE-8ACACFD7CDE2}"/>
                </a:ext>
              </a:extLst>
            </p:cNvPr>
            <p:cNvSpPr/>
            <p:nvPr/>
          </p:nvSpPr>
          <p:spPr>
            <a:xfrm>
              <a:off x="7006972" y="-2824893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67" name="任意多边形 147">
              <a:extLst>
                <a:ext uri="{FF2B5EF4-FFF2-40B4-BE49-F238E27FC236}">
                  <a16:creationId xmlns:a16="http://schemas.microsoft.com/office/drawing/2014/main" id="{E834D292-BF3D-4D91-999D-CC92E342F7C4}"/>
                </a:ext>
              </a:extLst>
            </p:cNvPr>
            <p:cNvSpPr/>
            <p:nvPr/>
          </p:nvSpPr>
          <p:spPr>
            <a:xfrm>
              <a:off x="7418826" y="-3249643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68" name="任意多边形 149">
              <a:extLst>
                <a:ext uri="{FF2B5EF4-FFF2-40B4-BE49-F238E27FC236}">
                  <a16:creationId xmlns:a16="http://schemas.microsoft.com/office/drawing/2014/main" id="{6A7FEA30-9E6F-4CBA-8B60-E422281883E6}"/>
                </a:ext>
              </a:extLst>
            </p:cNvPr>
            <p:cNvSpPr/>
            <p:nvPr/>
          </p:nvSpPr>
          <p:spPr>
            <a:xfrm>
              <a:off x="7879776" y="-3620557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69" name="任意多边形 151">
              <a:extLst>
                <a:ext uri="{FF2B5EF4-FFF2-40B4-BE49-F238E27FC236}">
                  <a16:creationId xmlns:a16="http://schemas.microsoft.com/office/drawing/2014/main" id="{FBE35A04-1AF1-4387-BE5F-0ED55B2C7D3A}"/>
                </a:ext>
              </a:extLst>
            </p:cNvPr>
            <p:cNvSpPr/>
            <p:nvPr/>
          </p:nvSpPr>
          <p:spPr>
            <a:xfrm>
              <a:off x="8382802" y="-3932015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7590" tIns="37590" rIns="37590" bIns="3759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222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5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70" name="任意多边形 153">
              <a:extLst>
                <a:ext uri="{FF2B5EF4-FFF2-40B4-BE49-F238E27FC236}">
                  <a16:creationId xmlns:a16="http://schemas.microsoft.com/office/drawing/2014/main" id="{1766AF8F-84BD-4E7A-9C73-3AA153A70C34}"/>
                </a:ext>
              </a:extLst>
            </p:cNvPr>
            <p:cNvSpPr/>
            <p:nvPr/>
          </p:nvSpPr>
          <p:spPr>
            <a:xfrm>
              <a:off x="8920291" y="-4179298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7590" tIns="37590" rIns="37590" bIns="3759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222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5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71" name="任意多边形 155">
              <a:extLst>
                <a:ext uri="{FF2B5EF4-FFF2-40B4-BE49-F238E27FC236}">
                  <a16:creationId xmlns:a16="http://schemas.microsoft.com/office/drawing/2014/main" id="{87732C38-91B5-4F26-8BEB-82BA45916663}"/>
                </a:ext>
              </a:extLst>
            </p:cNvPr>
            <p:cNvSpPr/>
            <p:nvPr/>
          </p:nvSpPr>
          <p:spPr>
            <a:xfrm>
              <a:off x="9484077" y="-4358663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7590" tIns="37590" rIns="37590" bIns="3759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222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5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72" name="任意多边形 157">
              <a:extLst>
                <a:ext uri="{FF2B5EF4-FFF2-40B4-BE49-F238E27FC236}">
                  <a16:creationId xmlns:a16="http://schemas.microsoft.com/office/drawing/2014/main" id="{A4B8F599-3E7F-4CA7-908F-F15D5A9F460E}"/>
                </a:ext>
              </a:extLst>
            </p:cNvPr>
            <p:cNvSpPr/>
            <p:nvPr/>
          </p:nvSpPr>
          <p:spPr>
            <a:xfrm>
              <a:off x="10065646" y="-4467374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7590" tIns="37590" rIns="37590" bIns="3759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222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5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</p:grpSp>
      <p:grpSp>
        <p:nvGrpSpPr>
          <p:cNvPr id="473" name="组合 472">
            <a:extLst>
              <a:ext uri="{FF2B5EF4-FFF2-40B4-BE49-F238E27FC236}">
                <a16:creationId xmlns:a16="http://schemas.microsoft.com/office/drawing/2014/main" id="{60BE1575-2B46-4ED6-B027-4DDC71903DA6}"/>
              </a:ext>
            </a:extLst>
          </p:cNvPr>
          <p:cNvGrpSpPr/>
          <p:nvPr/>
        </p:nvGrpSpPr>
        <p:grpSpPr>
          <a:xfrm>
            <a:off x="4761855" y="3683124"/>
            <a:ext cx="579600" cy="648039"/>
            <a:chOff x="4981968" y="4909761"/>
            <a:chExt cx="561350" cy="602097"/>
          </a:xfrm>
          <a:solidFill>
            <a:schemeClr val="bg1"/>
          </a:solidFill>
          <a:effectLst>
            <a:glow rad="50800">
              <a:schemeClr val="bg1">
                <a:alpha val="10000"/>
              </a:schemeClr>
            </a:glow>
          </a:effectLst>
        </p:grpSpPr>
        <p:sp>
          <p:nvSpPr>
            <p:cNvPr id="474" name="任意多边形 434">
              <a:extLst>
                <a:ext uri="{FF2B5EF4-FFF2-40B4-BE49-F238E27FC236}">
                  <a16:creationId xmlns:a16="http://schemas.microsoft.com/office/drawing/2014/main" id="{95B605D0-CDBF-4F0A-897F-4F233479F2A6}"/>
                </a:ext>
              </a:extLst>
            </p:cNvPr>
            <p:cNvSpPr/>
            <p:nvPr/>
          </p:nvSpPr>
          <p:spPr>
            <a:xfrm>
              <a:off x="4981968" y="4909761"/>
              <a:ext cx="561350" cy="194436"/>
            </a:xfrm>
            <a:custGeom>
              <a:avLst/>
              <a:gdLst>
                <a:gd name="connsiteX0" fmla="*/ 280675 w 561350"/>
                <a:gd name="connsiteY0" fmla="*/ 0 h 194436"/>
                <a:gd name="connsiteX1" fmla="*/ 558070 w 561350"/>
                <a:gd name="connsiteY1" fmla="*/ 183869 h 194436"/>
                <a:gd name="connsiteX2" fmla="*/ 561350 w 561350"/>
                <a:gd name="connsiteY2" fmla="*/ 194436 h 194436"/>
                <a:gd name="connsiteX3" fmla="*/ 528660 w 561350"/>
                <a:gd name="connsiteY3" fmla="*/ 194436 h 194436"/>
                <a:gd name="connsiteX4" fmla="*/ 504584 w 561350"/>
                <a:gd name="connsiteY4" fmla="*/ 150079 h 194436"/>
                <a:gd name="connsiteX5" fmla="*/ 280675 w 561350"/>
                <a:gd name="connsiteY5" fmla="*/ 31028 h 194436"/>
                <a:gd name="connsiteX6" fmla="*/ 56766 w 561350"/>
                <a:gd name="connsiteY6" fmla="*/ 150079 h 194436"/>
                <a:gd name="connsiteX7" fmla="*/ 32690 w 561350"/>
                <a:gd name="connsiteY7" fmla="*/ 194436 h 194436"/>
                <a:gd name="connsiteX8" fmla="*/ 0 w 561350"/>
                <a:gd name="connsiteY8" fmla="*/ 194436 h 194436"/>
                <a:gd name="connsiteX9" fmla="*/ 3280 w 561350"/>
                <a:gd name="connsiteY9" fmla="*/ 183869 h 194436"/>
                <a:gd name="connsiteX10" fmla="*/ 280675 w 561350"/>
                <a:gd name="connsiteY10" fmla="*/ 0 h 194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61350" h="194436">
                  <a:moveTo>
                    <a:pt x="280675" y="0"/>
                  </a:moveTo>
                  <a:cubicBezTo>
                    <a:pt x="405375" y="0"/>
                    <a:pt x="512368" y="75817"/>
                    <a:pt x="558070" y="183869"/>
                  </a:cubicBezTo>
                  <a:lnTo>
                    <a:pt x="561350" y="194436"/>
                  </a:lnTo>
                  <a:lnTo>
                    <a:pt x="528660" y="194436"/>
                  </a:lnTo>
                  <a:lnTo>
                    <a:pt x="504584" y="150079"/>
                  </a:lnTo>
                  <a:cubicBezTo>
                    <a:pt x="456059" y="78252"/>
                    <a:pt x="373882" y="31028"/>
                    <a:pt x="280675" y="31028"/>
                  </a:cubicBezTo>
                  <a:cubicBezTo>
                    <a:pt x="187468" y="31028"/>
                    <a:pt x="105292" y="78252"/>
                    <a:pt x="56766" y="150079"/>
                  </a:cubicBezTo>
                  <a:lnTo>
                    <a:pt x="32690" y="194436"/>
                  </a:lnTo>
                  <a:lnTo>
                    <a:pt x="0" y="194436"/>
                  </a:lnTo>
                  <a:lnTo>
                    <a:pt x="3280" y="183869"/>
                  </a:lnTo>
                  <a:cubicBezTo>
                    <a:pt x="48983" y="75817"/>
                    <a:pt x="155975" y="0"/>
                    <a:pt x="2806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75" name="任意多边形 435">
              <a:extLst>
                <a:ext uri="{FF2B5EF4-FFF2-40B4-BE49-F238E27FC236}">
                  <a16:creationId xmlns:a16="http://schemas.microsoft.com/office/drawing/2014/main" id="{95D34562-A89C-47CA-9505-BE971E75B975}"/>
                </a:ext>
              </a:extLst>
            </p:cNvPr>
            <p:cNvSpPr/>
            <p:nvPr/>
          </p:nvSpPr>
          <p:spPr>
            <a:xfrm>
              <a:off x="5028091" y="5397417"/>
              <a:ext cx="132191" cy="92909"/>
            </a:xfrm>
            <a:custGeom>
              <a:avLst/>
              <a:gdLst>
                <a:gd name="connsiteX0" fmla="*/ 0 w 132191"/>
                <a:gd name="connsiteY0" fmla="*/ 0 h 92909"/>
                <a:gd name="connsiteX1" fmla="*/ 40042 w 132191"/>
                <a:gd name="connsiteY1" fmla="*/ 0 h 92909"/>
                <a:gd name="connsiteX2" fmla="*/ 43618 w 132191"/>
                <a:gd name="connsiteY2" fmla="*/ 4334 h 92909"/>
                <a:gd name="connsiteX3" fmla="*/ 129449 w 132191"/>
                <a:gd name="connsiteY3" fmla="*/ 62202 h 92909"/>
                <a:gd name="connsiteX4" fmla="*/ 132191 w 132191"/>
                <a:gd name="connsiteY4" fmla="*/ 63053 h 92909"/>
                <a:gd name="connsiteX5" fmla="*/ 124191 w 132191"/>
                <a:gd name="connsiteY5" fmla="*/ 92909 h 92909"/>
                <a:gd name="connsiteX6" fmla="*/ 117372 w 132191"/>
                <a:gd name="connsiteY6" fmla="*/ 90792 h 92909"/>
                <a:gd name="connsiteX7" fmla="*/ 21678 w 132191"/>
                <a:gd name="connsiteY7" fmla="*/ 26274 h 92909"/>
                <a:gd name="connsiteX8" fmla="*/ 0 w 132191"/>
                <a:gd name="connsiteY8" fmla="*/ 0 h 92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2191" h="92909">
                  <a:moveTo>
                    <a:pt x="0" y="0"/>
                  </a:moveTo>
                  <a:lnTo>
                    <a:pt x="40042" y="0"/>
                  </a:lnTo>
                  <a:lnTo>
                    <a:pt x="43618" y="4334"/>
                  </a:lnTo>
                  <a:cubicBezTo>
                    <a:pt x="68051" y="28767"/>
                    <a:pt x="97144" y="48539"/>
                    <a:pt x="129449" y="62202"/>
                  </a:cubicBezTo>
                  <a:lnTo>
                    <a:pt x="132191" y="63053"/>
                  </a:lnTo>
                  <a:lnTo>
                    <a:pt x="124191" y="92909"/>
                  </a:lnTo>
                  <a:lnTo>
                    <a:pt x="117372" y="90792"/>
                  </a:lnTo>
                  <a:cubicBezTo>
                    <a:pt x="81354" y="75558"/>
                    <a:pt x="48918" y="53514"/>
                    <a:pt x="21678" y="26274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76" name="任意多边形 436">
              <a:extLst>
                <a:ext uri="{FF2B5EF4-FFF2-40B4-BE49-F238E27FC236}">
                  <a16:creationId xmlns:a16="http://schemas.microsoft.com/office/drawing/2014/main" id="{18515CE8-933D-44B5-B241-194A12F29F93}"/>
                </a:ext>
              </a:extLst>
            </p:cNvPr>
            <p:cNvSpPr/>
            <p:nvPr/>
          </p:nvSpPr>
          <p:spPr>
            <a:xfrm>
              <a:off x="5195981" y="5397408"/>
              <a:ext cx="301221" cy="114450"/>
            </a:xfrm>
            <a:custGeom>
              <a:avLst/>
              <a:gdLst>
                <a:gd name="connsiteX0" fmla="*/ 261179 w 301221"/>
                <a:gd name="connsiteY0" fmla="*/ 0 h 114450"/>
                <a:gd name="connsiteX1" fmla="*/ 301221 w 301221"/>
                <a:gd name="connsiteY1" fmla="*/ 0 h 114450"/>
                <a:gd name="connsiteX2" fmla="*/ 279543 w 301221"/>
                <a:gd name="connsiteY2" fmla="*/ 26274 h 114450"/>
                <a:gd name="connsiteX3" fmla="*/ 66666 w 301221"/>
                <a:gd name="connsiteY3" fmla="*/ 114450 h 114450"/>
                <a:gd name="connsiteX4" fmla="*/ 5993 w 301221"/>
                <a:gd name="connsiteY4" fmla="*/ 108334 h 114450"/>
                <a:gd name="connsiteX5" fmla="*/ 0 w 301221"/>
                <a:gd name="connsiteY5" fmla="*/ 106474 h 114450"/>
                <a:gd name="connsiteX6" fmla="*/ 8000 w 301221"/>
                <a:gd name="connsiteY6" fmla="*/ 76618 h 114450"/>
                <a:gd name="connsiteX7" fmla="*/ 12247 w 301221"/>
                <a:gd name="connsiteY7" fmla="*/ 77936 h 114450"/>
                <a:gd name="connsiteX8" fmla="*/ 66666 w 301221"/>
                <a:gd name="connsiteY8" fmla="*/ 83422 h 114450"/>
                <a:gd name="connsiteX9" fmla="*/ 257603 w 301221"/>
                <a:gd name="connsiteY9" fmla="*/ 4334 h 114450"/>
                <a:gd name="connsiteX10" fmla="*/ 261179 w 301221"/>
                <a:gd name="connsiteY10" fmla="*/ 0 h 114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1221" h="114450">
                  <a:moveTo>
                    <a:pt x="261179" y="0"/>
                  </a:moveTo>
                  <a:lnTo>
                    <a:pt x="301221" y="0"/>
                  </a:lnTo>
                  <a:lnTo>
                    <a:pt x="279543" y="26274"/>
                  </a:lnTo>
                  <a:cubicBezTo>
                    <a:pt x="225063" y="80754"/>
                    <a:pt x="149800" y="114450"/>
                    <a:pt x="66666" y="114450"/>
                  </a:cubicBezTo>
                  <a:cubicBezTo>
                    <a:pt x="45883" y="114450"/>
                    <a:pt x="25592" y="112344"/>
                    <a:pt x="5993" y="108334"/>
                  </a:cubicBezTo>
                  <a:lnTo>
                    <a:pt x="0" y="106474"/>
                  </a:lnTo>
                  <a:lnTo>
                    <a:pt x="8000" y="76618"/>
                  </a:lnTo>
                  <a:lnTo>
                    <a:pt x="12247" y="77936"/>
                  </a:lnTo>
                  <a:cubicBezTo>
                    <a:pt x="29825" y="81533"/>
                    <a:pt x="48025" y="83422"/>
                    <a:pt x="66666" y="83422"/>
                  </a:cubicBezTo>
                  <a:cubicBezTo>
                    <a:pt x="141232" y="83422"/>
                    <a:pt x="208738" y="53199"/>
                    <a:pt x="257603" y="4334"/>
                  </a:cubicBezTo>
                  <a:lnTo>
                    <a:pt x="26117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</p:grpSp>
      <p:sp>
        <p:nvSpPr>
          <p:cNvPr id="477" name="文本框 181">
            <a:extLst>
              <a:ext uri="{FF2B5EF4-FFF2-40B4-BE49-F238E27FC236}">
                <a16:creationId xmlns:a16="http://schemas.microsoft.com/office/drawing/2014/main" id="{B98B613F-18E9-44C5-85D7-66F361DFC734}"/>
              </a:ext>
            </a:extLst>
          </p:cNvPr>
          <p:cNvSpPr txBox="1"/>
          <p:nvPr/>
        </p:nvSpPr>
        <p:spPr>
          <a:xfrm flipH="1">
            <a:off x="4847547" y="3826246"/>
            <a:ext cx="4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rPr>
              <a:t>02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字魂59号-创粗黑" pitchFamily="2" charset="-122"/>
              <a:ea typeface="字魂58号-创中黑" pitchFamily="2" charset="-122"/>
              <a:cs typeface="+mn-ea"/>
              <a:sym typeface="字魂59号-创粗黑" pitchFamily="2" charset="-122"/>
            </a:endParaRPr>
          </a:p>
        </p:txBody>
      </p:sp>
      <p:sp>
        <p:nvSpPr>
          <p:cNvPr id="478" name="矩形 477">
            <a:extLst>
              <a:ext uri="{FF2B5EF4-FFF2-40B4-BE49-F238E27FC236}">
                <a16:creationId xmlns:a16="http://schemas.microsoft.com/office/drawing/2014/main" id="{CD4037DA-12C7-41DB-A88A-FF4257FC9B3E}"/>
              </a:ext>
            </a:extLst>
          </p:cNvPr>
          <p:cNvSpPr/>
          <p:nvPr/>
        </p:nvSpPr>
        <p:spPr>
          <a:xfrm>
            <a:off x="5475599" y="3592185"/>
            <a:ext cx="6105905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痛点二：持续监测成本高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9" name="矩形 478">
            <a:extLst>
              <a:ext uri="{FF2B5EF4-FFF2-40B4-BE49-F238E27FC236}">
                <a16:creationId xmlns:a16="http://schemas.microsoft.com/office/drawing/2014/main" id="{548BEAB5-D469-486C-A067-81390697B6AE}"/>
              </a:ext>
            </a:extLst>
          </p:cNvPr>
          <p:cNvSpPr/>
          <p:nvPr/>
        </p:nvSpPr>
        <p:spPr>
          <a:xfrm>
            <a:off x="5456410" y="4067676"/>
            <a:ext cx="5671566" cy="70205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 Light" pitchFamily="34" charset="-122"/>
                <a:ea typeface="微软雅黑 Light" pitchFamily="34" charset="-122"/>
              </a:rPr>
              <a:t>无论是连续视频采集还是频繁触发记录，都会带来较高的功耗、存储和后处理压力，不利于长期、稳定的野外部署。</a:t>
            </a:r>
          </a:p>
        </p:txBody>
      </p:sp>
      <p:cxnSp>
        <p:nvCxnSpPr>
          <p:cNvPr id="480" name="直接连接符 479">
            <a:extLst>
              <a:ext uri="{FF2B5EF4-FFF2-40B4-BE49-F238E27FC236}">
                <a16:creationId xmlns:a16="http://schemas.microsoft.com/office/drawing/2014/main" id="{C587372F-FD76-41D3-8587-4675F880BA8D}"/>
              </a:ext>
            </a:extLst>
          </p:cNvPr>
          <p:cNvCxnSpPr>
            <a:cxnSpLocks/>
          </p:cNvCxnSpPr>
          <p:nvPr/>
        </p:nvCxnSpPr>
        <p:spPr>
          <a:xfrm flipH="1">
            <a:off x="6046066" y="5549799"/>
            <a:ext cx="3246302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63500" sx="102000" sy="102000" algn="ctr" rotWithShape="0">
              <a:srgbClr val="01E2BC">
                <a:alpha val="4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1" name="椭圆 480">
            <a:extLst>
              <a:ext uri="{FF2B5EF4-FFF2-40B4-BE49-F238E27FC236}">
                <a16:creationId xmlns:a16="http://schemas.microsoft.com/office/drawing/2014/main" id="{F70E9036-AF0F-454B-A18B-81B9BFA8703F}"/>
              </a:ext>
            </a:extLst>
          </p:cNvPr>
          <p:cNvSpPr/>
          <p:nvPr/>
        </p:nvSpPr>
        <p:spPr>
          <a:xfrm>
            <a:off x="5209296" y="5074619"/>
            <a:ext cx="794365" cy="828058"/>
          </a:xfrm>
          <a:prstGeom prst="ellipse">
            <a:avLst/>
          </a:prstGeom>
          <a:gradFill flip="none" rotWithShape="1">
            <a:gsLst>
              <a:gs pos="65000">
                <a:srgbClr val="0D69FF">
                  <a:alpha val="0"/>
                </a:srgbClr>
              </a:gs>
              <a:gs pos="100000">
                <a:srgbClr val="0D69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字魂59号-创粗黑" pitchFamily="2" charset="-122"/>
              <a:ea typeface="字魂58号-创中黑" pitchFamily="2" charset="-122"/>
              <a:cs typeface="+mn-ea"/>
              <a:sym typeface="字魂59号-创粗黑" pitchFamily="2" charset="-122"/>
            </a:endParaRPr>
          </a:p>
        </p:txBody>
      </p:sp>
      <p:sp>
        <p:nvSpPr>
          <p:cNvPr id="482" name="椭圆 481">
            <a:extLst>
              <a:ext uri="{FF2B5EF4-FFF2-40B4-BE49-F238E27FC236}">
                <a16:creationId xmlns:a16="http://schemas.microsoft.com/office/drawing/2014/main" id="{DDEB8270-C1D4-440A-BFF0-C7A60A2487A2}"/>
              </a:ext>
            </a:extLst>
          </p:cNvPr>
          <p:cNvSpPr/>
          <p:nvPr/>
        </p:nvSpPr>
        <p:spPr>
          <a:xfrm>
            <a:off x="5269318" y="5131050"/>
            <a:ext cx="676059" cy="704734"/>
          </a:xfrm>
          <a:prstGeom prst="ellipse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glow rad="38100">
              <a:srgbClr val="01E2BC">
                <a:alpha val="1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字魂59号-创粗黑" pitchFamily="2" charset="-122"/>
              <a:ea typeface="字魂58号-创中黑" pitchFamily="2" charset="-122"/>
              <a:cs typeface="+mn-ea"/>
              <a:sym typeface="字魂59号-创粗黑" pitchFamily="2" charset="-122"/>
            </a:endParaRPr>
          </a:p>
        </p:txBody>
      </p:sp>
      <p:grpSp>
        <p:nvGrpSpPr>
          <p:cNvPr id="483" name="组合 482">
            <a:extLst>
              <a:ext uri="{FF2B5EF4-FFF2-40B4-BE49-F238E27FC236}">
                <a16:creationId xmlns:a16="http://schemas.microsoft.com/office/drawing/2014/main" id="{1BBC4D63-2452-455F-96AC-5FF21B3BAEDC}"/>
              </a:ext>
            </a:extLst>
          </p:cNvPr>
          <p:cNvGrpSpPr/>
          <p:nvPr/>
        </p:nvGrpSpPr>
        <p:grpSpPr>
          <a:xfrm>
            <a:off x="5327572" y="5221779"/>
            <a:ext cx="530900" cy="553189"/>
            <a:chOff x="5853103" y="-4503799"/>
            <a:chExt cx="9790876" cy="9786315"/>
          </a:xfrm>
          <a:solidFill>
            <a:srgbClr val="01E2BC"/>
          </a:solidFill>
        </p:grpSpPr>
        <p:sp>
          <p:nvSpPr>
            <p:cNvPr id="484" name="任意多边形 57">
              <a:extLst>
                <a:ext uri="{FF2B5EF4-FFF2-40B4-BE49-F238E27FC236}">
                  <a16:creationId xmlns:a16="http://schemas.microsoft.com/office/drawing/2014/main" id="{9B473834-218C-4D60-B9F6-4546F67F45D9}"/>
                </a:ext>
              </a:extLst>
            </p:cNvPr>
            <p:cNvSpPr/>
            <p:nvPr/>
          </p:nvSpPr>
          <p:spPr>
            <a:xfrm>
              <a:off x="10656176" y="-4503799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7590" tIns="37590" rIns="37590" bIns="3759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222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5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85" name="任意多边形 59">
              <a:extLst>
                <a:ext uri="{FF2B5EF4-FFF2-40B4-BE49-F238E27FC236}">
                  <a16:creationId xmlns:a16="http://schemas.microsoft.com/office/drawing/2014/main" id="{AD4B14A2-F567-402C-AFD8-092764ABBE30}"/>
                </a:ext>
              </a:extLst>
            </p:cNvPr>
            <p:cNvSpPr/>
            <p:nvPr/>
          </p:nvSpPr>
          <p:spPr>
            <a:xfrm>
              <a:off x="11246705" y="-4467385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86" name="任意多边形 61">
              <a:extLst>
                <a:ext uri="{FF2B5EF4-FFF2-40B4-BE49-F238E27FC236}">
                  <a16:creationId xmlns:a16="http://schemas.microsoft.com/office/drawing/2014/main" id="{D9CC4C3C-FC09-4FE9-9248-427A2F8B341A}"/>
                </a:ext>
              </a:extLst>
            </p:cNvPr>
            <p:cNvSpPr/>
            <p:nvPr/>
          </p:nvSpPr>
          <p:spPr>
            <a:xfrm>
              <a:off x="11828274" y="-4358663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87" name="任意多边形 63">
              <a:extLst>
                <a:ext uri="{FF2B5EF4-FFF2-40B4-BE49-F238E27FC236}">
                  <a16:creationId xmlns:a16="http://schemas.microsoft.com/office/drawing/2014/main" id="{290DBEC6-5B2A-4225-AD1C-DE81F1B3C143}"/>
                </a:ext>
              </a:extLst>
            </p:cNvPr>
            <p:cNvSpPr/>
            <p:nvPr/>
          </p:nvSpPr>
          <p:spPr>
            <a:xfrm>
              <a:off x="12392071" y="-4179298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88" name="任意多边形 65">
              <a:extLst>
                <a:ext uri="{FF2B5EF4-FFF2-40B4-BE49-F238E27FC236}">
                  <a16:creationId xmlns:a16="http://schemas.microsoft.com/office/drawing/2014/main" id="{4A358905-A31F-4C8E-AA0D-89C0C2E5B53D}"/>
                </a:ext>
              </a:extLst>
            </p:cNvPr>
            <p:cNvSpPr/>
            <p:nvPr/>
          </p:nvSpPr>
          <p:spPr>
            <a:xfrm>
              <a:off x="12929560" y="-3932015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89" name="任意多边形 67">
              <a:extLst>
                <a:ext uri="{FF2B5EF4-FFF2-40B4-BE49-F238E27FC236}">
                  <a16:creationId xmlns:a16="http://schemas.microsoft.com/office/drawing/2014/main" id="{7D7C9939-FDB1-4045-BD04-213DD80C058A}"/>
                </a:ext>
              </a:extLst>
            </p:cNvPr>
            <p:cNvSpPr/>
            <p:nvPr/>
          </p:nvSpPr>
          <p:spPr>
            <a:xfrm>
              <a:off x="13432586" y="-3620557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90" name="任意多边形 69">
              <a:extLst>
                <a:ext uri="{FF2B5EF4-FFF2-40B4-BE49-F238E27FC236}">
                  <a16:creationId xmlns:a16="http://schemas.microsoft.com/office/drawing/2014/main" id="{75E0FD01-6380-4DA8-8B5E-A6267DD52AA0}"/>
                </a:ext>
              </a:extLst>
            </p:cNvPr>
            <p:cNvSpPr/>
            <p:nvPr/>
          </p:nvSpPr>
          <p:spPr>
            <a:xfrm>
              <a:off x="13893525" y="-3249642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91" name="任意多边形 71">
              <a:extLst>
                <a:ext uri="{FF2B5EF4-FFF2-40B4-BE49-F238E27FC236}">
                  <a16:creationId xmlns:a16="http://schemas.microsoft.com/office/drawing/2014/main" id="{02EFA3A0-494F-4606-8D8B-7BA515803E99}"/>
                </a:ext>
              </a:extLst>
            </p:cNvPr>
            <p:cNvSpPr/>
            <p:nvPr/>
          </p:nvSpPr>
          <p:spPr>
            <a:xfrm>
              <a:off x="14305379" y="-2824892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92" name="任意多边形 73">
              <a:extLst>
                <a:ext uri="{FF2B5EF4-FFF2-40B4-BE49-F238E27FC236}">
                  <a16:creationId xmlns:a16="http://schemas.microsoft.com/office/drawing/2014/main" id="{35AB9D1B-64DC-4DBF-81CE-AEC8B7567A5F}"/>
                </a:ext>
              </a:extLst>
            </p:cNvPr>
            <p:cNvSpPr/>
            <p:nvPr/>
          </p:nvSpPr>
          <p:spPr>
            <a:xfrm>
              <a:off x="14661934" y="-2352753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93" name="任意多边形 75">
              <a:extLst>
                <a:ext uri="{FF2B5EF4-FFF2-40B4-BE49-F238E27FC236}">
                  <a16:creationId xmlns:a16="http://schemas.microsoft.com/office/drawing/2014/main" id="{8FE9596A-533C-4D3F-871A-495256228497}"/>
                </a:ext>
              </a:extLst>
            </p:cNvPr>
            <p:cNvSpPr/>
            <p:nvPr/>
          </p:nvSpPr>
          <p:spPr>
            <a:xfrm>
              <a:off x="14957761" y="-1840373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94" name="任意多边形 77">
              <a:extLst>
                <a:ext uri="{FF2B5EF4-FFF2-40B4-BE49-F238E27FC236}">
                  <a16:creationId xmlns:a16="http://schemas.microsoft.com/office/drawing/2014/main" id="{7BE51D80-4016-420B-B1F9-9F1BEBAE9C94}"/>
                </a:ext>
              </a:extLst>
            </p:cNvPr>
            <p:cNvSpPr/>
            <p:nvPr/>
          </p:nvSpPr>
          <p:spPr>
            <a:xfrm>
              <a:off x="15188373" y="-1295523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95" name="任意多边形 79">
              <a:extLst>
                <a:ext uri="{FF2B5EF4-FFF2-40B4-BE49-F238E27FC236}">
                  <a16:creationId xmlns:a16="http://schemas.microsoft.com/office/drawing/2014/main" id="{4F22CED4-F41F-4B5F-A4FE-BE82C32B226E}"/>
                </a:ext>
              </a:extLst>
            </p:cNvPr>
            <p:cNvSpPr/>
            <p:nvPr/>
          </p:nvSpPr>
          <p:spPr>
            <a:xfrm>
              <a:off x="15350273" y="-726464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96" name="任意多边形 81">
              <a:extLst>
                <a:ext uri="{FF2B5EF4-FFF2-40B4-BE49-F238E27FC236}">
                  <a16:creationId xmlns:a16="http://schemas.microsoft.com/office/drawing/2014/main" id="{D04F0B17-77FB-4FE2-9792-E569326A5740}"/>
                </a:ext>
              </a:extLst>
            </p:cNvPr>
            <p:cNvSpPr/>
            <p:nvPr/>
          </p:nvSpPr>
          <p:spPr>
            <a:xfrm>
              <a:off x="15441032" y="-141828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97" name="任意多边形 83">
              <a:extLst>
                <a:ext uri="{FF2B5EF4-FFF2-40B4-BE49-F238E27FC236}">
                  <a16:creationId xmlns:a16="http://schemas.microsoft.com/office/drawing/2014/main" id="{13810810-EAD5-4FDD-9861-12E5E9C58E8E}"/>
                </a:ext>
              </a:extLst>
            </p:cNvPr>
            <p:cNvSpPr/>
            <p:nvPr/>
          </p:nvSpPr>
          <p:spPr>
            <a:xfrm>
              <a:off x="15459249" y="449531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98" name="任意多边形 85">
              <a:extLst>
                <a:ext uri="{FF2B5EF4-FFF2-40B4-BE49-F238E27FC236}">
                  <a16:creationId xmlns:a16="http://schemas.microsoft.com/office/drawing/2014/main" id="{4919F658-372A-48D5-99AD-E85B4D095F33}"/>
                </a:ext>
              </a:extLst>
            </p:cNvPr>
            <p:cNvSpPr/>
            <p:nvPr/>
          </p:nvSpPr>
          <p:spPr>
            <a:xfrm>
              <a:off x="15404671" y="1038652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499" name="任意多边形 87">
              <a:extLst>
                <a:ext uri="{FF2B5EF4-FFF2-40B4-BE49-F238E27FC236}">
                  <a16:creationId xmlns:a16="http://schemas.microsoft.com/office/drawing/2014/main" id="{BA35B11F-63A4-4552-9EB5-C21878E307FE}"/>
                </a:ext>
              </a:extLst>
            </p:cNvPr>
            <p:cNvSpPr/>
            <p:nvPr/>
          </p:nvSpPr>
          <p:spPr>
            <a:xfrm>
              <a:off x="15278093" y="1616597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00" name="任意多边形 89">
              <a:extLst>
                <a:ext uri="{FF2B5EF4-FFF2-40B4-BE49-F238E27FC236}">
                  <a16:creationId xmlns:a16="http://schemas.microsoft.com/office/drawing/2014/main" id="{520F72C0-B0B6-42AB-9F2C-B6B280F9F89F}"/>
                </a:ext>
              </a:extLst>
            </p:cNvPr>
            <p:cNvSpPr/>
            <p:nvPr/>
          </p:nvSpPr>
          <p:spPr>
            <a:xfrm>
              <a:off x="15081455" y="2174617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01" name="任意多边形 91">
              <a:extLst>
                <a:ext uri="{FF2B5EF4-FFF2-40B4-BE49-F238E27FC236}">
                  <a16:creationId xmlns:a16="http://schemas.microsoft.com/office/drawing/2014/main" id="{090FE29D-1EF5-4BA2-A636-A743E2254A98}"/>
                </a:ext>
              </a:extLst>
            </p:cNvPr>
            <p:cNvSpPr/>
            <p:nvPr/>
          </p:nvSpPr>
          <p:spPr>
            <a:xfrm>
              <a:off x="14817747" y="2704240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02" name="任意多边形 93">
              <a:extLst>
                <a:ext uri="{FF2B5EF4-FFF2-40B4-BE49-F238E27FC236}">
                  <a16:creationId xmlns:a16="http://schemas.microsoft.com/office/drawing/2014/main" id="{4849A36C-3F56-45EC-A540-E22A650D6564}"/>
                </a:ext>
              </a:extLst>
            </p:cNvPr>
            <p:cNvSpPr/>
            <p:nvPr/>
          </p:nvSpPr>
          <p:spPr>
            <a:xfrm>
              <a:off x="14490936" y="3197438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03" name="任意多边形 95">
              <a:extLst>
                <a:ext uri="{FF2B5EF4-FFF2-40B4-BE49-F238E27FC236}">
                  <a16:creationId xmlns:a16="http://schemas.microsoft.com/office/drawing/2014/main" id="{B0C6670E-BAFF-465F-AD39-0E328377EA8B}"/>
                </a:ext>
              </a:extLst>
            </p:cNvPr>
            <p:cNvSpPr/>
            <p:nvPr/>
          </p:nvSpPr>
          <p:spPr>
            <a:xfrm>
              <a:off x="14105994" y="3646736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04" name="任意多边形 97">
              <a:extLst>
                <a:ext uri="{FF2B5EF4-FFF2-40B4-BE49-F238E27FC236}">
                  <a16:creationId xmlns:a16="http://schemas.microsoft.com/office/drawing/2014/main" id="{B9CAAEF7-A397-4265-8A93-4C5B17951C31}"/>
                </a:ext>
              </a:extLst>
            </p:cNvPr>
            <p:cNvSpPr/>
            <p:nvPr/>
          </p:nvSpPr>
          <p:spPr>
            <a:xfrm>
              <a:off x="13668775" y="4045305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05" name="任意多边形 99">
              <a:extLst>
                <a:ext uri="{FF2B5EF4-FFF2-40B4-BE49-F238E27FC236}">
                  <a16:creationId xmlns:a16="http://schemas.microsoft.com/office/drawing/2014/main" id="{FFFE0AFC-A9DE-492F-B937-BC8D9F3FF5DB}"/>
                </a:ext>
              </a:extLst>
            </p:cNvPr>
            <p:cNvSpPr/>
            <p:nvPr/>
          </p:nvSpPr>
          <p:spPr>
            <a:xfrm>
              <a:off x="13185875" y="4387143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06" name="任意多边形 101">
              <a:extLst>
                <a:ext uri="{FF2B5EF4-FFF2-40B4-BE49-F238E27FC236}">
                  <a16:creationId xmlns:a16="http://schemas.microsoft.com/office/drawing/2014/main" id="{E0BCBD5C-BFF0-452B-8BB0-F49BA605A7ED}"/>
                </a:ext>
              </a:extLst>
            </p:cNvPr>
            <p:cNvSpPr/>
            <p:nvPr/>
          </p:nvSpPr>
          <p:spPr>
            <a:xfrm>
              <a:off x="12664621" y="4667055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07" name="任意多边形 103">
              <a:extLst>
                <a:ext uri="{FF2B5EF4-FFF2-40B4-BE49-F238E27FC236}">
                  <a16:creationId xmlns:a16="http://schemas.microsoft.com/office/drawing/2014/main" id="{3E7BDAE6-F6F5-4711-80D7-4E5B5E5AB85A}"/>
                </a:ext>
              </a:extLst>
            </p:cNvPr>
            <p:cNvSpPr/>
            <p:nvPr/>
          </p:nvSpPr>
          <p:spPr>
            <a:xfrm>
              <a:off x="12112923" y="4880776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08" name="任意多边形 105">
              <a:extLst>
                <a:ext uri="{FF2B5EF4-FFF2-40B4-BE49-F238E27FC236}">
                  <a16:creationId xmlns:a16="http://schemas.microsoft.com/office/drawing/2014/main" id="{5D55EB0F-882D-4FF5-8F73-B8C2FE84C478}"/>
                </a:ext>
              </a:extLst>
            </p:cNvPr>
            <p:cNvSpPr/>
            <p:nvPr/>
          </p:nvSpPr>
          <p:spPr>
            <a:xfrm>
              <a:off x="11539169" y="5025085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09" name="任意多边形 107">
              <a:extLst>
                <a:ext uri="{FF2B5EF4-FFF2-40B4-BE49-F238E27FC236}">
                  <a16:creationId xmlns:a16="http://schemas.microsoft.com/office/drawing/2014/main" id="{6AD8484B-1EE9-4D9C-8782-8873B7ECCA43}"/>
                </a:ext>
              </a:extLst>
            </p:cNvPr>
            <p:cNvSpPr/>
            <p:nvPr/>
          </p:nvSpPr>
          <p:spPr>
            <a:xfrm>
              <a:off x="10952012" y="5097796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10" name="任意多边形 109">
              <a:extLst>
                <a:ext uri="{FF2B5EF4-FFF2-40B4-BE49-F238E27FC236}">
                  <a16:creationId xmlns:a16="http://schemas.microsoft.com/office/drawing/2014/main" id="{C0BB6AB2-CCED-4C32-AC30-6768A678E8C1}"/>
                </a:ext>
              </a:extLst>
            </p:cNvPr>
            <p:cNvSpPr/>
            <p:nvPr/>
          </p:nvSpPr>
          <p:spPr>
            <a:xfrm>
              <a:off x="10360359" y="5097796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11" name="任意多边形 111">
              <a:extLst>
                <a:ext uri="{FF2B5EF4-FFF2-40B4-BE49-F238E27FC236}">
                  <a16:creationId xmlns:a16="http://schemas.microsoft.com/office/drawing/2014/main" id="{27320E65-EFFD-4752-B99B-FB5A50C924FF}"/>
                </a:ext>
              </a:extLst>
            </p:cNvPr>
            <p:cNvSpPr/>
            <p:nvPr/>
          </p:nvSpPr>
          <p:spPr>
            <a:xfrm>
              <a:off x="9773192" y="5025085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12" name="任意多边形 113">
              <a:extLst>
                <a:ext uri="{FF2B5EF4-FFF2-40B4-BE49-F238E27FC236}">
                  <a16:creationId xmlns:a16="http://schemas.microsoft.com/office/drawing/2014/main" id="{8B6A8468-8B11-408D-A617-1601689978C3}"/>
                </a:ext>
              </a:extLst>
            </p:cNvPr>
            <p:cNvSpPr/>
            <p:nvPr/>
          </p:nvSpPr>
          <p:spPr>
            <a:xfrm>
              <a:off x="9199427" y="4880776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13" name="任意多边形 115">
              <a:extLst>
                <a:ext uri="{FF2B5EF4-FFF2-40B4-BE49-F238E27FC236}">
                  <a16:creationId xmlns:a16="http://schemas.microsoft.com/office/drawing/2014/main" id="{37E85B83-F45F-4D78-A8F7-AAB88F287020}"/>
                </a:ext>
              </a:extLst>
            </p:cNvPr>
            <p:cNvSpPr/>
            <p:nvPr/>
          </p:nvSpPr>
          <p:spPr>
            <a:xfrm>
              <a:off x="8647730" y="4667054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14" name="任意多边形 117">
              <a:extLst>
                <a:ext uri="{FF2B5EF4-FFF2-40B4-BE49-F238E27FC236}">
                  <a16:creationId xmlns:a16="http://schemas.microsoft.com/office/drawing/2014/main" id="{32C18EEF-076E-4145-9FCC-5CAFBC9027A8}"/>
                </a:ext>
              </a:extLst>
            </p:cNvPr>
            <p:cNvSpPr/>
            <p:nvPr/>
          </p:nvSpPr>
          <p:spPr>
            <a:xfrm>
              <a:off x="8126486" y="4387143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15" name="任意多边形 119">
              <a:extLst>
                <a:ext uri="{FF2B5EF4-FFF2-40B4-BE49-F238E27FC236}">
                  <a16:creationId xmlns:a16="http://schemas.microsoft.com/office/drawing/2014/main" id="{5F1CF302-7016-40C2-898D-E8940E3D0B51}"/>
                </a:ext>
              </a:extLst>
            </p:cNvPr>
            <p:cNvSpPr/>
            <p:nvPr/>
          </p:nvSpPr>
          <p:spPr>
            <a:xfrm>
              <a:off x="7643576" y="4045305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16" name="任意多边形 121">
              <a:extLst>
                <a:ext uri="{FF2B5EF4-FFF2-40B4-BE49-F238E27FC236}">
                  <a16:creationId xmlns:a16="http://schemas.microsoft.com/office/drawing/2014/main" id="{27C375ED-D87D-472C-9F08-BD2EBBBB5D4B}"/>
                </a:ext>
              </a:extLst>
            </p:cNvPr>
            <p:cNvSpPr/>
            <p:nvPr/>
          </p:nvSpPr>
          <p:spPr>
            <a:xfrm>
              <a:off x="7206357" y="3646736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17" name="任意多边形 123">
              <a:extLst>
                <a:ext uri="{FF2B5EF4-FFF2-40B4-BE49-F238E27FC236}">
                  <a16:creationId xmlns:a16="http://schemas.microsoft.com/office/drawing/2014/main" id="{399918F3-A2FF-4AFE-9A33-33BDBC8DFB86}"/>
                </a:ext>
              </a:extLst>
            </p:cNvPr>
            <p:cNvSpPr/>
            <p:nvPr/>
          </p:nvSpPr>
          <p:spPr>
            <a:xfrm>
              <a:off x="6821416" y="3197438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18" name="任意多边形 125">
              <a:extLst>
                <a:ext uri="{FF2B5EF4-FFF2-40B4-BE49-F238E27FC236}">
                  <a16:creationId xmlns:a16="http://schemas.microsoft.com/office/drawing/2014/main" id="{12A60CA5-181C-4637-BFDC-9D4A368DD454}"/>
                </a:ext>
              </a:extLst>
            </p:cNvPr>
            <p:cNvSpPr/>
            <p:nvPr/>
          </p:nvSpPr>
          <p:spPr>
            <a:xfrm>
              <a:off x="6494615" y="2704240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19" name="任意多边形 127">
              <a:extLst>
                <a:ext uri="{FF2B5EF4-FFF2-40B4-BE49-F238E27FC236}">
                  <a16:creationId xmlns:a16="http://schemas.microsoft.com/office/drawing/2014/main" id="{057342E1-BBF8-41B0-96D3-26C2A2623F39}"/>
                </a:ext>
              </a:extLst>
            </p:cNvPr>
            <p:cNvSpPr/>
            <p:nvPr/>
          </p:nvSpPr>
          <p:spPr>
            <a:xfrm>
              <a:off x="6230908" y="2174617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20" name="任意多边形 129">
              <a:extLst>
                <a:ext uri="{FF2B5EF4-FFF2-40B4-BE49-F238E27FC236}">
                  <a16:creationId xmlns:a16="http://schemas.microsoft.com/office/drawing/2014/main" id="{27BCF608-E9C6-4C86-A254-361E27384078}"/>
                </a:ext>
              </a:extLst>
            </p:cNvPr>
            <p:cNvSpPr/>
            <p:nvPr/>
          </p:nvSpPr>
          <p:spPr>
            <a:xfrm>
              <a:off x="6034259" y="1616597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21" name="任意多边形 131">
              <a:extLst>
                <a:ext uri="{FF2B5EF4-FFF2-40B4-BE49-F238E27FC236}">
                  <a16:creationId xmlns:a16="http://schemas.microsoft.com/office/drawing/2014/main" id="{FC0935EC-EB84-4C46-8A9C-3E09BE4A74D7}"/>
                </a:ext>
              </a:extLst>
            </p:cNvPr>
            <p:cNvSpPr/>
            <p:nvPr/>
          </p:nvSpPr>
          <p:spPr>
            <a:xfrm>
              <a:off x="5907692" y="1038652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22" name="任意多边形 133">
              <a:extLst>
                <a:ext uri="{FF2B5EF4-FFF2-40B4-BE49-F238E27FC236}">
                  <a16:creationId xmlns:a16="http://schemas.microsoft.com/office/drawing/2014/main" id="{2DE2B082-C28E-4E41-B46F-BBC52748AF27}"/>
                </a:ext>
              </a:extLst>
            </p:cNvPr>
            <p:cNvSpPr/>
            <p:nvPr/>
          </p:nvSpPr>
          <p:spPr>
            <a:xfrm>
              <a:off x="5853103" y="449531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23" name="任意多边形 135">
              <a:extLst>
                <a:ext uri="{FF2B5EF4-FFF2-40B4-BE49-F238E27FC236}">
                  <a16:creationId xmlns:a16="http://schemas.microsoft.com/office/drawing/2014/main" id="{D3A8D399-D3E2-41C6-8191-4351207139D6}"/>
                </a:ext>
              </a:extLst>
            </p:cNvPr>
            <p:cNvSpPr/>
            <p:nvPr/>
          </p:nvSpPr>
          <p:spPr>
            <a:xfrm>
              <a:off x="5871331" y="-141828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24" name="任意多边形 137">
              <a:extLst>
                <a:ext uri="{FF2B5EF4-FFF2-40B4-BE49-F238E27FC236}">
                  <a16:creationId xmlns:a16="http://schemas.microsoft.com/office/drawing/2014/main" id="{17D22115-4574-482B-A787-F94BF9D673BB}"/>
                </a:ext>
              </a:extLst>
            </p:cNvPr>
            <p:cNvSpPr/>
            <p:nvPr/>
          </p:nvSpPr>
          <p:spPr>
            <a:xfrm>
              <a:off x="5962079" y="-726464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25" name="任意多边形 139">
              <a:extLst>
                <a:ext uri="{FF2B5EF4-FFF2-40B4-BE49-F238E27FC236}">
                  <a16:creationId xmlns:a16="http://schemas.microsoft.com/office/drawing/2014/main" id="{8F04B4B9-9533-433F-93F8-5BAA526407F8}"/>
                </a:ext>
              </a:extLst>
            </p:cNvPr>
            <p:cNvSpPr/>
            <p:nvPr/>
          </p:nvSpPr>
          <p:spPr>
            <a:xfrm>
              <a:off x="6123989" y="-1295523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26" name="任意多边形 141">
              <a:extLst>
                <a:ext uri="{FF2B5EF4-FFF2-40B4-BE49-F238E27FC236}">
                  <a16:creationId xmlns:a16="http://schemas.microsoft.com/office/drawing/2014/main" id="{EACF1A0B-DE7A-4103-8B43-534A01DBBFAF}"/>
                </a:ext>
              </a:extLst>
            </p:cNvPr>
            <p:cNvSpPr/>
            <p:nvPr/>
          </p:nvSpPr>
          <p:spPr>
            <a:xfrm>
              <a:off x="6354591" y="-1840373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27" name="任意多边形 143">
              <a:extLst>
                <a:ext uri="{FF2B5EF4-FFF2-40B4-BE49-F238E27FC236}">
                  <a16:creationId xmlns:a16="http://schemas.microsoft.com/office/drawing/2014/main" id="{E8B9265A-3411-48DB-B567-E6A6169114F8}"/>
                </a:ext>
              </a:extLst>
            </p:cNvPr>
            <p:cNvSpPr/>
            <p:nvPr/>
          </p:nvSpPr>
          <p:spPr>
            <a:xfrm>
              <a:off x="6650428" y="-2352754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28" name="任意多边形 145">
              <a:extLst>
                <a:ext uri="{FF2B5EF4-FFF2-40B4-BE49-F238E27FC236}">
                  <a16:creationId xmlns:a16="http://schemas.microsoft.com/office/drawing/2014/main" id="{7118F772-BE88-495E-B0D9-CF1D68C655F6}"/>
                </a:ext>
              </a:extLst>
            </p:cNvPr>
            <p:cNvSpPr/>
            <p:nvPr/>
          </p:nvSpPr>
          <p:spPr>
            <a:xfrm>
              <a:off x="7006972" y="-2824893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29" name="任意多边形 147">
              <a:extLst>
                <a:ext uri="{FF2B5EF4-FFF2-40B4-BE49-F238E27FC236}">
                  <a16:creationId xmlns:a16="http://schemas.microsoft.com/office/drawing/2014/main" id="{D404CCC5-0C85-4D90-AB87-4BADA69EF5D2}"/>
                </a:ext>
              </a:extLst>
            </p:cNvPr>
            <p:cNvSpPr/>
            <p:nvPr/>
          </p:nvSpPr>
          <p:spPr>
            <a:xfrm>
              <a:off x="7418826" y="-3249643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30" name="任意多边形 149">
              <a:extLst>
                <a:ext uri="{FF2B5EF4-FFF2-40B4-BE49-F238E27FC236}">
                  <a16:creationId xmlns:a16="http://schemas.microsoft.com/office/drawing/2014/main" id="{A6BE6A0B-4158-4D17-804C-046757333369}"/>
                </a:ext>
              </a:extLst>
            </p:cNvPr>
            <p:cNvSpPr/>
            <p:nvPr/>
          </p:nvSpPr>
          <p:spPr>
            <a:xfrm>
              <a:off x="7879776" y="-3620557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70" tIns="42670" rIns="42670" bIns="4267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00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31" name="任意多边形 151">
              <a:extLst>
                <a:ext uri="{FF2B5EF4-FFF2-40B4-BE49-F238E27FC236}">
                  <a16:creationId xmlns:a16="http://schemas.microsoft.com/office/drawing/2014/main" id="{8D821E68-D16E-4DD0-B751-3CF9CDFC4BFB}"/>
                </a:ext>
              </a:extLst>
            </p:cNvPr>
            <p:cNvSpPr/>
            <p:nvPr/>
          </p:nvSpPr>
          <p:spPr>
            <a:xfrm>
              <a:off x="8382802" y="-3932015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7590" tIns="37590" rIns="37590" bIns="3759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222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5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32" name="任意多边形 153">
              <a:extLst>
                <a:ext uri="{FF2B5EF4-FFF2-40B4-BE49-F238E27FC236}">
                  <a16:creationId xmlns:a16="http://schemas.microsoft.com/office/drawing/2014/main" id="{D90C1282-D81A-44A9-A2D6-9DB8A9BF0736}"/>
                </a:ext>
              </a:extLst>
            </p:cNvPr>
            <p:cNvSpPr/>
            <p:nvPr/>
          </p:nvSpPr>
          <p:spPr>
            <a:xfrm>
              <a:off x="8920291" y="-4179298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7590" tIns="37590" rIns="37590" bIns="3759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222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5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33" name="任意多边形 155">
              <a:extLst>
                <a:ext uri="{FF2B5EF4-FFF2-40B4-BE49-F238E27FC236}">
                  <a16:creationId xmlns:a16="http://schemas.microsoft.com/office/drawing/2014/main" id="{E0A5A95A-D7F5-472B-8F15-02EE8227726D}"/>
                </a:ext>
              </a:extLst>
            </p:cNvPr>
            <p:cNvSpPr/>
            <p:nvPr/>
          </p:nvSpPr>
          <p:spPr>
            <a:xfrm>
              <a:off x="9484077" y="-4358663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7590" tIns="37590" rIns="37590" bIns="3759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222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5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34" name="任意多边形 157">
              <a:extLst>
                <a:ext uri="{FF2B5EF4-FFF2-40B4-BE49-F238E27FC236}">
                  <a16:creationId xmlns:a16="http://schemas.microsoft.com/office/drawing/2014/main" id="{2278D243-F623-43E2-B663-C94796E0A6FB}"/>
                </a:ext>
              </a:extLst>
            </p:cNvPr>
            <p:cNvSpPr/>
            <p:nvPr/>
          </p:nvSpPr>
          <p:spPr>
            <a:xfrm>
              <a:off x="10065646" y="-4467374"/>
              <a:ext cx="184730" cy="184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7590" tIns="37590" rIns="37590" bIns="37590" numCol="1" spcCol="1270" anchor="ctr" anchorCtr="0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222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5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</p:grpSp>
      <p:grpSp>
        <p:nvGrpSpPr>
          <p:cNvPr id="535" name="组合 534">
            <a:extLst>
              <a:ext uri="{FF2B5EF4-FFF2-40B4-BE49-F238E27FC236}">
                <a16:creationId xmlns:a16="http://schemas.microsoft.com/office/drawing/2014/main" id="{783E30D2-D578-4829-8BF1-897D360BDE9B}"/>
              </a:ext>
            </a:extLst>
          </p:cNvPr>
          <p:cNvGrpSpPr/>
          <p:nvPr/>
        </p:nvGrpSpPr>
        <p:grpSpPr>
          <a:xfrm>
            <a:off x="5308028" y="5164997"/>
            <a:ext cx="579600" cy="648039"/>
            <a:chOff x="4981968" y="4909761"/>
            <a:chExt cx="561350" cy="602097"/>
          </a:xfrm>
          <a:solidFill>
            <a:schemeClr val="bg1"/>
          </a:solidFill>
          <a:effectLst>
            <a:glow rad="50800">
              <a:schemeClr val="bg1">
                <a:alpha val="10000"/>
              </a:schemeClr>
            </a:glow>
          </a:effectLst>
        </p:grpSpPr>
        <p:sp>
          <p:nvSpPr>
            <p:cNvPr id="536" name="任意多边形 434">
              <a:extLst>
                <a:ext uri="{FF2B5EF4-FFF2-40B4-BE49-F238E27FC236}">
                  <a16:creationId xmlns:a16="http://schemas.microsoft.com/office/drawing/2014/main" id="{5B198974-C6F8-4935-95AD-7E5FD5819BA0}"/>
                </a:ext>
              </a:extLst>
            </p:cNvPr>
            <p:cNvSpPr/>
            <p:nvPr/>
          </p:nvSpPr>
          <p:spPr>
            <a:xfrm>
              <a:off x="4981968" y="4909761"/>
              <a:ext cx="561350" cy="194436"/>
            </a:xfrm>
            <a:custGeom>
              <a:avLst/>
              <a:gdLst>
                <a:gd name="connsiteX0" fmla="*/ 280675 w 561350"/>
                <a:gd name="connsiteY0" fmla="*/ 0 h 194436"/>
                <a:gd name="connsiteX1" fmla="*/ 558070 w 561350"/>
                <a:gd name="connsiteY1" fmla="*/ 183869 h 194436"/>
                <a:gd name="connsiteX2" fmla="*/ 561350 w 561350"/>
                <a:gd name="connsiteY2" fmla="*/ 194436 h 194436"/>
                <a:gd name="connsiteX3" fmla="*/ 528660 w 561350"/>
                <a:gd name="connsiteY3" fmla="*/ 194436 h 194436"/>
                <a:gd name="connsiteX4" fmla="*/ 504584 w 561350"/>
                <a:gd name="connsiteY4" fmla="*/ 150079 h 194436"/>
                <a:gd name="connsiteX5" fmla="*/ 280675 w 561350"/>
                <a:gd name="connsiteY5" fmla="*/ 31028 h 194436"/>
                <a:gd name="connsiteX6" fmla="*/ 56766 w 561350"/>
                <a:gd name="connsiteY6" fmla="*/ 150079 h 194436"/>
                <a:gd name="connsiteX7" fmla="*/ 32690 w 561350"/>
                <a:gd name="connsiteY7" fmla="*/ 194436 h 194436"/>
                <a:gd name="connsiteX8" fmla="*/ 0 w 561350"/>
                <a:gd name="connsiteY8" fmla="*/ 194436 h 194436"/>
                <a:gd name="connsiteX9" fmla="*/ 3280 w 561350"/>
                <a:gd name="connsiteY9" fmla="*/ 183869 h 194436"/>
                <a:gd name="connsiteX10" fmla="*/ 280675 w 561350"/>
                <a:gd name="connsiteY10" fmla="*/ 0 h 194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61350" h="194436">
                  <a:moveTo>
                    <a:pt x="280675" y="0"/>
                  </a:moveTo>
                  <a:cubicBezTo>
                    <a:pt x="405375" y="0"/>
                    <a:pt x="512368" y="75817"/>
                    <a:pt x="558070" y="183869"/>
                  </a:cubicBezTo>
                  <a:lnTo>
                    <a:pt x="561350" y="194436"/>
                  </a:lnTo>
                  <a:lnTo>
                    <a:pt x="528660" y="194436"/>
                  </a:lnTo>
                  <a:lnTo>
                    <a:pt x="504584" y="150079"/>
                  </a:lnTo>
                  <a:cubicBezTo>
                    <a:pt x="456059" y="78252"/>
                    <a:pt x="373882" y="31028"/>
                    <a:pt x="280675" y="31028"/>
                  </a:cubicBezTo>
                  <a:cubicBezTo>
                    <a:pt x="187468" y="31028"/>
                    <a:pt x="105292" y="78252"/>
                    <a:pt x="56766" y="150079"/>
                  </a:cubicBezTo>
                  <a:lnTo>
                    <a:pt x="32690" y="194436"/>
                  </a:lnTo>
                  <a:lnTo>
                    <a:pt x="0" y="194436"/>
                  </a:lnTo>
                  <a:lnTo>
                    <a:pt x="3280" y="183869"/>
                  </a:lnTo>
                  <a:cubicBezTo>
                    <a:pt x="48983" y="75817"/>
                    <a:pt x="155975" y="0"/>
                    <a:pt x="2806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37" name="任意多边形 435">
              <a:extLst>
                <a:ext uri="{FF2B5EF4-FFF2-40B4-BE49-F238E27FC236}">
                  <a16:creationId xmlns:a16="http://schemas.microsoft.com/office/drawing/2014/main" id="{F5F17697-5DD7-4C5C-A33E-431C171AE213}"/>
                </a:ext>
              </a:extLst>
            </p:cNvPr>
            <p:cNvSpPr/>
            <p:nvPr/>
          </p:nvSpPr>
          <p:spPr>
            <a:xfrm>
              <a:off x="5028091" y="5397417"/>
              <a:ext cx="132191" cy="92909"/>
            </a:xfrm>
            <a:custGeom>
              <a:avLst/>
              <a:gdLst>
                <a:gd name="connsiteX0" fmla="*/ 0 w 132191"/>
                <a:gd name="connsiteY0" fmla="*/ 0 h 92909"/>
                <a:gd name="connsiteX1" fmla="*/ 40042 w 132191"/>
                <a:gd name="connsiteY1" fmla="*/ 0 h 92909"/>
                <a:gd name="connsiteX2" fmla="*/ 43618 w 132191"/>
                <a:gd name="connsiteY2" fmla="*/ 4334 h 92909"/>
                <a:gd name="connsiteX3" fmla="*/ 129449 w 132191"/>
                <a:gd name="connsiteY3" fmla="*/ 62202 h 92909"/>
                <a:gd name="connsiteX4" fmla="*/ 132191 w 132191"/>
                <a:gd name="connsiteY4" fmla="*/ 63053 h 92909"/>
                <a:gd name="connsiteX5" fmla="*/ 124191 w 132191"/>
                <a:gd name="connsiteY5" fmla="*/ 92909 h 92909"/>
                <a:gd name="connsiteX6" fmla="*/ 117372 w 132191"/>
                <a:gd name="connsiteY6" fmla="*/ 90792 h 92909"/>
                <a:gd name="connsiteX7" fmla="*/ 21678 w 132191"/>
                <a:gd name="connsiteY7" fmla="*/ 26274 h 92909"/>
                <a:gd name="connsiteX8" fmla="*/ 0 w 132191"/>
                <a:gd name="connsiteY8" fmla="*/ 0 h 92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2191" h="92909">
                  <a:moveTo>
                    <a:pt x="0" y="0"/>
                  </a:moveTo>
                  <a:lnTo>
                    <a:pt x="40042" y="0"/>
                  </a:lnTo>
                  <a:lnTo>
                    <a:pt x="43618" y="4334"/>
                  </a:lnTo>
                  <a:cubicBezTo>
                    <a:pt x="68051" y="28767"/>
                    <a:pt x="97144" y="48539"/>
                    <a:pt x="129449" y="62202"/>
                  </a:cubicBezTo>
                  <a:lnTo>
                    <a:pt x="132191" y="63053"/>
                  </a:lnTo>
                  <a:lnTo>
                    <a:pt x="124191" y="92909"/>
                  </a:lnTo>
                  <a:lnTo>
                    <a:pt x="117372" y="90792"/>
                  </a:lnTo>
                  <a:cubicBezTo>
                    <a:pt x="81354" y="75558"/>
                    <a:pt x="48918" y="53514"/>
                    <a:pt x="21678" y="26274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  <p:sp>
          <p:nvSpPr>
            <p:cNvPr id="538" name="任意多边形 436">
              <a:extLst>
                <a:ext uri="{FF2B5EF4-FFF2-40B4-BE49-F238E27FC236}">
                  <a16:creationId xmlns:a16="http://schemas.microsoft.com/office/drawing/2014/main" id="{D02E3FC7-6345-4DBA-8808-78EB53110172}"/>
                </a:ext>
              </a:extLst>
            </p:cNvPr>
            <p:cNvSpPr/>
            <p:nvPr/>
          </p:nvSpPr>
          <p:spPr>
            <a:xfrm>
              <a:off x="5195981" y="5397408"/>
              <a:ext cx="301221" cy="114450"/>
            </a:xfrm>
            <a:custGeom>
              <a:avLst/>
              <a:gdLst>
                <a:gd name="connsiteX0" fmla="*/ 261179 w 301221"/>
                <a:gd name="connsiteY0" fmla="*/ 0 h 114450"/>
                <a:gd name="connsiteX1" fmla="*/ 301221 w 301221"/>
                <a:gd name="connsiteY1" fmla="*/ 0 h 114450"/>
                <a:gd name="connsiteX2" fmla="*/ 279543 w 301221"/>
                <a:gd name="connsiteY2" fmla="*/ 26274 h 114450"/>
                <a:gd name="connsiteX3" fmla="*/ 66666 w 301221"/>
                <a:gd name="connsiteY3" fmla="*/ 114450 h 114450"/>
                <a:gd name="connsiteX4" fmla="*/ 5993 w 301221"/>
                <a:gd name="connsiteY4" fmla="*/ 108334 h 114450"/>
                <a:gd name="connsiteX5" fmla="*/ 0 w 301221"/>
                <a:gd name="connsiteY5" fmla="*/ 106474 h 114450"/>
                <a:gd name="connsiteX6" fmla="*/ 8000 w 301221"/>
                <a:gd name="connsiteY6" fmla="*/ 76618 h 114450"/>
                <a:gd name="connsiteX7" fmla="*/ 12247 w 301221"/>
                <a:gd name="connsiteY7" fmla="*/ 77936 h 114450"/>
                <a:gd name="connsiteX8" fmla="*/ 66666 w 301221"/>
                <a:gd name="connsiteY8" fmla="*/ 83422 h 114450"/>
                <a:gd name="connsiteX9" fmla="*/ 257603 w 301221"/>
                <a:gd name="connsiteY9" fmla="*/ 4334 h 114450"/>
                <a:gd name="connsiteX10" fmla="*/ 261179 w 301221"/>
                <a:gd name="connsiteY10" fmla="*/ 0 h 114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1221" h="114450">
                  <a:moveTo>
                    <a:pt x="261179" y="0"/>
                  </a:moveTo>
                  <a:lnTo>
                    <a:pt x="301221" y="0"/>
                  </a:lnTo>
                  <a:lnTo>
                    <a:pt x="279543" y="26274"/>
                  </a:lnTo>
                  <a:cubicBezTo>
                    <a:pt x="225063" y="80754"/>
                    <a:pt x="149800" y="114450"/>
                    <a:pt x="66666" y="114450"/>
                  </a:cubicBezTo>
                  <a:cubicBezTo>
                    <a:pt x="45883" y="114450"/>
                    <a:pt x="25592" y="112344"/>
                    <a:pt x="5993" y="108334"/>
                  </a:cubicBezTo>
                  <a:lnTo>
                    <a:pt x="0" y="106474"/>
                  </a:lnTo>
                  <a:lnTo>
                    <a:pt x="8000" y="76618"/>
                  </a:lnTo>
                  <a:lnTo>
                    <a:pt x="12247" y="77936"/>
                  </a:lnTo>
                  <a:cubicBezTo>
                    <a:pt x="29825" y="81533"/>
                    <a:pt x="48025" y="83422"/>
                    <a:pt x="66666" y="83422"/>
                  </a:cubicBezTo>
                  <a:cubicBezTo>
                    <a:pt x="141232" y="83422"/>
                    <a:pt x="208738" y="53199"/>
                    <a:pt x="257603" y="4334"/>
                  </a:cubicBezTo>
                  <a:lnTo>
                    <a:pt x="26117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endParaRPr>
            </a:p>
          </p:txBody>
        </p:sp>
      </p:grpSp>
      <p:sp>
        <p:nvSpPr>
          <p:cNvPr id="539" name="文本框 181">
            <a:extLst>
              <a:ext uri="{FF2B5EF4-FFF2-40B4-BE49-F238E27FC236}">
                <a16:creationId xmlns:a16="http://schemas.microsoft.com/office/drawing/2014/main" id="{3CFEB123-02A1-4FC6-BEAE-75D27362FD09}"/>
              </a:ext>
            </a:extLst>
          </p:cNvPr>
          <p:cNvSpPr txBox="1"/>
          <p:nvPr/>
        </p:nvSpPr>
        <p:spPr>
          <a:xfrm flipH="1">
            <a:off x="5393720" y="5308119"/>
            <a:ext cx="4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59号-创粗黑" pitchFamily="2" charset="-122"/>
                <a:ea typeface="字魂58号-创中黑" pitchFamily="2" charset="-122"/>
                <a:cs typeface="+mn-ea"/>
                <a:sym typeface="字魂59号-创粗黑" pitchFamily="2" charset="-122"/>
              </a:rPr>
              <a:t>03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字魂59号-创粗黑" pitchFamily="2" charset="-122"/>
              <a:ea typeface="字魂58号-创中黑" pitchFamily="2" charset="-122"/>
              <a:cs typeface="+mn-ea"/>
              <a:sym typeface="字魂59号-创粗黑" pitchFamily="2" charset="-122"/>
            </a:endParaRPr>
          </a:p>
        </p:txBody>
      </p:sp>
      <p:sp>
        <p:nvSpPr>
          <p:cNvPr id="540" name="矩形 539">
            <a:extLst>
              <a:ext uri="{FF2B5EF4-FFF2-40B4-BE49-F238E27FC236}">
                <a16:creationId xmlns:a16="http://schemas.microsoft.com/office/drawing/2014/main" id="{A79DCF22-FEA1-4893-8A09-A89149D89112}"/>
              </a:ext>
            </a:extLst>
          </p:cNvPr>
          <p:cNvSpPr/>
          <p:nvPr/>
        </p:nvSpPr>
        <p:spPr>
          <a:xfrm>
            <a:off x="6021772" y="5074058"/>
            <a:ext cx="5352777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痛点三：单一模态能力有限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1" name="矩形 540">
            <a:extLst>
              <a:ext uri="{FF2B5EF4-FFF2-40B4-BE49-F238E27FC236}">
                <a16:creationId xmlns:a16="http://schemas.microsoft.com/office/drawing/2014/main" id="{0F4C2EC0-5C6E-42CD-BC79-D67692EC7D0F}"/>
              </a:ext>
            </a:extLst>
          </p:cNvPr>
          <p:cNvSpPr/>
          <p:nvPr/>
        </p:nvSpPr>
        <p:spPr>
          <a:xfrm>
            <a:off x="6002582" y="5549549"/>
            <a:ext cx="5969278" cy="70205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 Light" pitchFamily="34" charset="-122"/>
                <a:ea typeface="微软雅黑 Light" pitchFamily="34" charset="-122"/>
              </a:rPr>
              <a:t>仅依赖单一信息，往往难以同时兼顾远距离感知、精确识别和结果确认，容易出现“发现不了”“认不准”或“无法直观展示”的问题。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5043" y="328398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rgbClr val="005699"/>
                </a:solidFill>
                <a:latin typeface="微软雅黑" pitchFamily="34" charset="-122"/>
                <a:ea typeface="微软雅黑" pitchFamily="34" charset="-122"/>
              </a:rPr>
              <a:t>项目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699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方案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2834D87-25BB-2685-795C-37CF8534C22C}"/>
              </a:ext>
            </a:extLst>
          </p:cNvPr>
          <p:cNvSpPr/>
          <p:nvPr/>
        </p:nvSpPr>
        <p:spPr>
          <a:xfrm>
            <a:off x="6096000" y="3658754"/>
            <a:ext cx="5322109" cy="2860603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DDF033-EB78-4A45-A579-D15CD827BBFE}"/>
              </a:ext>
            </a:extLst>
          </p:cNvPr>
          <p:cNvSpPr txBox="1"/>
          <p:nvPr/>
        </p:nvSpPr>
        <p:spPr>
          <a:xfrm>
            <a:off x="665043" y="328398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6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嵌入式特征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56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CD14F6-8660-4318-A87D-CD365A4A8455}"/>
              </a:ext>
            </a:extLst>
          </p:cNvPr>
          <p:cNvSpPr txBox="1"/>
          <p:nvPr/>
        </p:nvSpPr>
        <p:spPr>
          <a:xfrm>
            <a:off x="6540557" y="3961494"/>
            <a:ext cx="4432997" cy="2536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 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Intel DK-2500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的端侧一体化部署，具有明显嵌入式落地特征。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融合麦克风阵列、摄像头、云台与算法模块，体现软硬件协同集成能力。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适合实时嵌入式部署：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ODAS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 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语言实现，并针对低成本硬件优化。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53D04F7-33FB-6BBA-A645-EACCAB6DC9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91" b="8323"/>
          <a:stretch>
            <a:fillRect/>
          </a:stretch>
        </p:blipFill>
        <p:spPr>
          <a:xfrm>
            <a:off x="7612075" y="1270375"/>
            <a:ext cx="3584505" cy="215862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0771BC7-5F86-3105-385B-CCD3FA492C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225" y="1340284"/>
            <a:ext cx="4274655" cy="5179073"/>
          </a:xfrm>
          <a:prstGeom prst="rect">
            <a:avLst/>
          </a:prstGeom>
        </p:spPr>
      </p:pic>
      <p:sp>
        <p:nvSpPr>
          <p:cNvPr id="14" name="箭头: 右 13">
            <a:extLst>
              <a:ext uri="{FF2B5EF4-FFF2-40B4-BE49-F238E27FC236}">
                <a16:creationId xmlns:a16="http://schemas.microsoft.com/office/drawing/2014/main" id="{F935A19E-656F-3D63-AED1-F331C74011C7}"/>
              </a:ext>
            </a:extLst>
          </p:cNvPr>
          <p:cNvSpPr/>
          <p:nvPr/>
        </p:nvSpPr>
        <p:spPr>
          <a:xfrm>
            <a:off x="5177967" y="1775460"/>
            <a:ext cx="2744511" cy="1530466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5000">
                <a:srgbClr val="728EBF"/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scene3d>
            <a:camera prst="isometricOffAxis1To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522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: 形状 14"/>
          <p:cNvSpPr/>
          <p:nvPr/>
        </p:nvSpPr>
        <p:spPr>
          <a:xfrm>
            <a:off x="13559427" y="508452"/>
            <a:ext cx="2837162" cy="1525356"/>
          </a:xfrm>
          <a:custGeom>
            <a:avLst/>
            <a:gdLst>
              <a:gd name="connsiteX0" fmla="*/ 0 w 2241629"/>
              <a:gd name="connsiteY0" fmla="*/ 0 h 1205177"/>
              <a:gd name="connsiteX1" fmla="*/ 2241629 w 2241629"/>
              <a:gd name="connsiteY1" fmla="*/ 0 h 1205177"/>
              <a:gd name="connsiteX2" fmla="*/ 2241629 w 2241629"/>
              <a:gd name="connsiteY2" fmla="*/ 1205177 h 1205177"/>
              <a:gd name="connsiteX3" fmla="*/ 0 w 2241629"/>
              <a:gd name="connsiteY3" fmla="*/ 1205177 h 1205177"/>
              <a:gd name="connsiteX4" fmla="*/ 0 w 2241629"/>
              <a:gd name="connsiteY4" fmla="*/ 0 h 1205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1629" h="1205177">
                <a:moveTo>
                  <a:pt x="0" y="0"/>
                </a:moveTo>
                <a:lnTo>
                  <a:pt x="2241629" y="0"/>
                </a:lnTo>
                <a:lnTo>
                  <a:pt x="2241629" y="1205177"/>
                </a:lnTo>
                <a:lnTo>
                  <a:pt x="0" y="120517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7160" numCol="1" spcCol="1270" anchor="ctr" anchorCtr="0">
            <a:noAutofit/>
          </a:bodyPr>
          <a:lstStyle/>
          <a:p>
            <a:pPr marL="0" lvl="0" indent="0" algn="l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3600" kern="1200"/>
          </a:p>
        </p:txBody>
      </p:sp>
      <p:sp>
        <p:nvSpPr>
          <p:cNvPr id="34" name="文本框 33"/>
          <p:cNvSpPr txBox="1"/>
          <p:nvPr/>
        </p:nvSpPr>
        <p:spPr>
          <a:xfrm>
            <a:off x="665043" y="32839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699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项目预期应用</a:t>
            </a:r>
          </a:p>
        </p:txBody>
      </p:sp>
      <p:sp>
        <p:nvSpPr>
          <p:cNvPr id="21" name="PA-缺角矩形 2">
            <a:extLst>
              <a:ext uri="{FF2B5EF4-FFF2-40B4-BE49-F238E27FC236}">
                <a16:creationId xmlns:a16="http://schemas.microsoft.com/office/drawing/2014/main" id="{F5502F72-A7E4-4AC0-BA91-F9481D1A4791}"/>
              </a:ext>
            </a:extLst>
          </p:cNvPr>
          <p:cNvSpPr/>
          <p:nvPr/>
        </p:nvSpPr>
        <p:spPr>
          <a:xfrm>
            <a:off x="494885" y="1480320"/>
            <a:ext cx="6439315" cy="1224780"/>
          </a:xfrm>
          <a:prstGeom prst="plaque">
            <a:avLst>
              <a:gd name="adj" fmla="val 4421"/>
            </a:avLst>
          </a:prstGeom>
          <a:gradFill flip="none" rotWithShape="0">
            <a:gsLst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accent2">
                  <a:lumMod val="0"/>
                  <a:lumOff val="100000"/>
                </a:schemeClr>
              </a:gs>
            </a:gsLst>
            <a:lin ang="5400000" scaled="1"/>
            <a:tileRect/>
          </a:gradFill>
          <a:ln w="12700">
            <a:solidFill>
              <a:schemeClr val="accent1">
                <a:alpha val="80000"/>
              </a:schemeClr>
            </a:solidFill>
          </a:ln>
          <a:effectLst>
            <a:outerShdw blurRad="381000" dist="279400" dir="5400000" sx="96000" sy="96000" algn="t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gradFill flip="none" rotWithShape="1">
                <a:gsLst>
                  <a:gs pos="0">
                    <a:srgbClr val="A3561D">
                      <a:lumMod val="82000"/>
                      <a:lumOff val="18000"/>
                    </a:srgbClr>
                  </a:gs>
                  <a:gs pos="100000">
                    <a:srgbClr val="A3561D"/>
                  </a:gs>
                </a:gsLst>
                <a:lin ang="2700000" scaled="1"/>
                <a:tileRect/>
              </a:gra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2" name="内容占位符 4">
            <a:extLst>
              <a:ext uri="{FF2B5EF4-FFF2-40B4-BE49-F238E27FC236}">
                <a16:creationId xmlns:a16="http://schemas.microsoft.com/office/drawing/2014/main" id="{DB3D2C34-2A02-4185-8AC2-90AD1D825C2E}"/>
              </a:ext>
            </a:extLst>
          </p:cNvPr>
          <p:cNvSpPr txBox="1"/>
          <p:nvPr/>
        </p:nvSpPr>
        <p:spPr>
          <a:xfrm>
            <a:off x="520756" y="1625400"/>
            <a:ext cx="6428758" cy="8802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742950" indent="-285750" algn="l" rtl="0" eaLnBrk="0" fontAlgn="base" hangingPunct="0">
              <a:spcBef>
                <a:spcPts val="6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11430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6002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20574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  <a:buClr>
                <a:prstClr val="black"/>
              </a:buClr>
              <a:buFont typeface="Wingdings" panose="05000000000000000000" pitchFamily="2" charset="2"/>
              <a:buChar char="q"/>
              <a:defRPr/>
            </a:pPr>
            <a:r>
              <a:rPr lang="zh-CN" altLang="en-US" sz="1600" dirty="0">
                <a:solidFill>
                  <a:prstClr val="black"/>
                </a:solidFill>
              </a:rPr>
              <a:t>用于</a:t>
            </a:r>
            <a:r>
              <a:rPr lang="zh-CN" altLang="en-US" sz="1600" dirty="0">
                <a:solidFill>
                  <a:srgbClr val="C00000"/>
                </a:solidFill>
              </a:rPr>
              <a:t>保护区、湿地、公园</a:t>
            </a:r>
            <a:r>
              <a:rPr lang="zh-CN" altLang="en-US" sz="1600" dirty="0">
                <a:solidFill>
                  <a:prstClr val="black"/>
                </a:solidFill>
              </a:rPr>
              <a:t>等区域的野生动物监测。系统先通过声音发现目标，再引导摄像头进行搜索和确认，可辅助开展鸟类活动监测、重点物种追踪、异常活动预警等工作。</a:t>
            </a: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E651EAD4-770B-45C8-AAFE-50BEB08032A7}"/>
              </a:ext>
            </a:extLst>
          </p:cNvPr>
          <p:cNvSpPr/>
          <p:nvPr/>
        </p:nvSpPr>
        <p:spPr>
          <a:xfrm rot="16200000">
            <a:off x="1735076" y="17082"/>
            <a:ext cx="341771" cy="2837162"/>
          </a:xfrm>
          <a:custGeom>
            <a:avLst/>
            <a:gdLst>
              <a:gd name="connsiteX0" fmla="*/ 311113 w 990558"/>
              <a:gd name="connsiteY0" fmla="*/ 0 h 3041291"/>
              <a:gd name="connsiteX1" fmla="*/ 679445 w 990558"/>
              <a:gd name="connsiteY1" fmla="*/ 0 h 3041291"/>
              <a:gd name="connsiteX2" fmla="*/ 860620 w 990558"/>
              <a:gd name="connsiteY2" fmla="*/ 120091 h 3041291"/>
              <a:gd name="connsiteX3" fmla="*/ 863046 w 990558"/>
              <a:gd name="connsiteY3" fmla="*/ 127905 h 3041291"/>
              <a:gd name="connsiteX4" fmla="*/ 902199 w 990558"/>
              <a:gd name="connsiteY4" fmla="*/ 135810 h 3041291"/>
              <a:gd name="connsiteX5" fmla="*/ 990558 w 990558"/>
              <a:gd name="connsiteY5" fmla="*/ 269112 h 3041291"/>
              <a:gd name="connsiteX6" fmla="*/ 990558 w 990558"/>
              <a:gd name="connsiteY6" fmla="*/ 502996 h 3041291"/>
              <a:gd name="connsiteX7" fmla="*/ 990558 w 990558"/>
              <a:gd name="connsiteY7" fmla="*/ 2448698 h 3041291"/>
              <a:gd name="connsiteX8" fmla="*/ 990558 w 990558"/>
              <a:gd name="connsiteY8" fmla="*/ 2682582 h 3041291"/>
              <a:gd name="connsiteX9" fmla="*/ 902199 w 990558"/>
              <a:gd name="connsiteY9" fmla="*/ 2815884 h 3041291"/>
              <a:gd name="connsiteX10" fmla="*/ 863046 w 990558"/>
              <a:gd name="connsiteY10" fmla="*/ 2823789 h 3041291"/>
              <a:gd name="connsiteX11" fmla="*/ 860620 w 990558"/>
              <a:gd name="connsiteY11" fmla="*/ 2831603 h 3041291"/>
              <a:gd name="connsiteX12" fmla="*/ 679445 w 990558"/>
              <a:gd name="connsiteY12" fmla="*/ 2951694 h 3041291"/>
              <a:gd name="connsiteX13" fmla="*/ 659898 w 990558"/>
              <a:gd name="connsiteY13" fmla="*/ 2951694 h 3041291"/>
              <a:gd name="connsiteX14" fmla="*/ 658318 w 990558"/>
              <a:gd name="connsiteY14" fmla="*/ 2954604 h 3041291"/>
              <a:gd name="connsiteX15" fmla="*/ 495279 w 990558"/>
              <a:gd name="connsiteY15" fmla="*/ 3041291 h 3041291"/>
              <a:gd name="connsiteX16" fmla="*/ 332240 w 990558"/>
              <a:gd name="connsiteY16" fmla="*/ 2954604 h 3041291"/>
              <a:gd name="connsiteX17" fmla="*/ 330661 w 990558"/>
              <a:gd name="connsiteY17" fmla="*/ 2951694 h 3041291"/>
              <a:gd name="connsiteX18" fmla="*/ 311113 w 990558"/>
              <a:gd name="connsiteY18" fmla="*/ 2951694 h 3041291"/>
              <a:gd name="connsiteX19" fmla="*/ 129939 w 990558"/>
              <a:gd name="connsiteY19" fmla="*/ 2831603 h 3041291"/>
              <a:gd name="connsiteX20" fmla="*/ 127512 w 990558"/>
              <a:gd name="connsiteY20" fmla="*/ 2823789 h 3041291"/>
              <a:gd name="connsiteX21" fmla="*/ 88359 w 990558"/>
              <a:gd name="connsiteY21" fmla="*/ 2815884 h 3041291"/>
              <a:gd name="connsiteX22" fmla="*/ 0 w 990558"/>
              <a:gd name="connsiteY22" fmla="*/ 2682582 h 3041291"/>
              <a:gd name="connsiteX23" fmla="*/ 0 w 990558"/>
              <a:gd name="connsiteY23" fmla="*/ 2448698 h 3041291"/>
              <a:gd name="connsiteX24" fmla="*/ 0 w 990558"/>
              <a:gd name="connsiteY24" fmla="*/ 502996 h 3041291"/>
              <a:gd name="connsiteX25" fmla="*/ 0 w 990558"/>
              <a:gd name="connsiteY25" fmla="*/ 269112 h 3041291"/>
              <a:gd name="connsiteX26" fmla="*/ 88359 w 990558"/>
              <a:gd name="connsiteY26" fmla="*/ 135810 h 3041291"/>
              <a:gd name="connsiteX27" fmla="*/ 127512 w 990558"/>
              <a:gd name="connsiteY27" fmla="*/ 127905 h 3041291"/>
              <a:gd name="connsiteX28" fmla="*/ 129939 w 990558"/>
              <a:gd name="connsiteY28" fmla="*/ 120091 h 3041291"/>
              <a:gd name="connsiteX29" fmla="*/ 311113 w 990558"/>
              <a:gd name="connsiteY29" fmla="*/ 0 h 3041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990558" h="3041291">
                <a:moveTo>
                  <a:pt x="311113" y="0"/>
                </a:moveTo>
                <a:lnTo>
                  <a:pt x="679445" y="0"/>
                </a:lnTo>
                <a:cubicBezTo>
                  <a:pt x="760890" y="0"/>
                  <a:pt x="830770" y="49518"/>
                  <a:pt x="860620" y="120091"/>
                </a:cubicBezTo>
                <a:lnTo>
                  <a:pt x="863046" y="127905"/>
                </a:lnTo>
                <a:lnTo>
                  <a:pt x="902199" y="135810"/>
                </a:lnTo>
                <a:cubicBezTo>
                  <a:pt x="954124" y="157773"/>
                  <a:pt x="990558" y="209188"/>
                  <a:pt x="990558" y="269112"/>
                </a:cubicBezTo>
                <a:lnTo>
                  <a:pt x="990558" y="502996"/>
                </a:lnTo>
                <a:lnTo>
                  <a:pt x="990558" y="2448698"/>
                </a:lnTo>
                <a:lnTo>
                  <a:pt x="990558" y="2682582"/>
                </a:lnTo>
                <a:cubicBezTo>
                  <a:pt x="990558" y="2742506"/>
                  <a:pt x="954124" y="2793922"/>
                  <a:pt x="902199" y="2815884"/>
                </a:cubicBezTo>
                <a:lnTo>
                  <a:pt x="863046" y="2823789"/>
                </a:lnTo>
                <a:lnTo>
                  <a:pt x="860620" y="2831603"/>
                </a:lnTo>
                <a:cubicBezTo>
                  <a:pt x="830770" y="2902176"/>
                  <a:pt x="760890" y="2951694"/>
                  <a:pt x="679445" y="2951694"/>
                </a:cubicBezTo>
                <a:lnTo>
                  <a:pt x="659898" y="2951694"/>
                </a:lnTo>
                <a:lnTo>
                  <a:pt x="658318" y="2954604"/>
                </a:lnTo>
                <a:cubicBezTo>
                  <a:pt x="622984" y="3006905"/>
                  <a:pt x="563147" y="3041291"/>
                  <a:pt x="495279" y="3041291"/>
                </a:cubicBezTo>
                <a:cubicBezTo>
                  <a:pt x="427411" y="3041291"/>
                  <a:pt x="367574" y="3006905"/>
                  <a:pt x="332240" y="2954604"/>
                </a:cubicBezTo>
                <a:lnTo>
                  <a:pt x="330661" y="2951694"/>
                </a:lnTo>
                <a:lnTo>
                  <a:pt x="311113" y="2951694"/>
                </a:lnTo>
                <a:cubicBezTo>
                  <a:pt x="229668" y="2951694"/>
                  <a:pt x="159788" y="2902176"/>
                  <a:pt x="129939" y="2831603"/>
                </a:cubicBezTo>
                <a:lnTo>
                  <a:pt x="127512" y="2823789"/>
                </a:lnTo>
                <a:lnTo>
                  <a:pt x="88359" y="2815884"/>
                </a:lnTo>
                <a:cubicBezTo>
                  <a:pt x="36434" y="2793922"/>
                  <a:pt x="0" y="2742506"/>
                  <a:pt x="0" y="2682582"/>
                </a:cubicBezTo>
                <a:lnTo>
                  <a:pt x="0" y="2448698"/>
                </a:lnTo>
                <a:lnTo>
                  <a:pt x="0" y="502996"/>
                </a:lnTo>
                <a:lnTo>
                  <a:pt x="0" y="269112"/>
                </a:lnTo>
                <a:cubicBezTo>
                  <a:pt x="0" y="209188"/>
                  <a:pt x="36434" y="157773"/>
                  <a:pt x="88359" y="135810"/>
                </a:cubicBezTo>
                <a:lnTo>
                  <a:pt x="127512" y="127905"/>
                </a:lnTo>
                <a:lnTo>
                  <a:pt x="129939" y="120091"/>
                </a:lnTo>
                <a:cubicBezTo>
                  <a:pt x="159788" y="49518"/>
                  <a:pt x="229668" y="0"/>
                  <a:pt x="311113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75000"/>
                </a:schemeClr>
              </a:gs>
              <a:gs pos="19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>
            <a:solidFill>
              <a:schemeClr val="accent1">
                <a:lumMod val="50000"/>
                <a:alpha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A3561D">
                      <a:lumMod val="82000"/>
                      <a:lumOff val="18000"/>
                    </a:srgbClr>
                  </a:gs>
                  <a:gs pos="100000">
                    <a:srgbClr val="A3561D"/>
                  </a:gs>
                </a:gsLst>
                <a:lin ang="2700000" scaled="1"/>
                <a:tileRect/>
              </a:gra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  <p:sp>
        <p:nvSpPr>
          <p:cNvPr id="27" name="文本框 31">
            <a:extLst>
              <a:ext uri="{FF2B5EF4-FFF2-40B4-BE49-F238E27FC236}">
                <a16:creationId xmlns:a16="http://schemas.microsoft.com/office/drawing/2014/main" id="{1DF16049-D4CB-42F0-A9F4-2F24D75F6654}"/>
              </a:ext>
            </a:extLst>
          </p:cNvPr>
          <p:cNvSpPr txBox="1"/>
          <p:nvPr/>
        </p:nvSpPr>
        <p:spPr>
          <a:xfrm>
            <a:off x="510199" y="1246601"/>
            <a:ext cx="2729642" cy="39369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5AD2"/>
              </a:buClr>
              <a:buSzPct val="100000"/>
              <a:buFontTx/>
              <a:buNone/>
              <a:defRPr/>
            </a:pPr>
            <a:r>
              <a:rPr lang="zh-CN" altLang="en-US" sz="2000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+mn-ea"/>
                <a:sym typeface="+mn-lt"/>
              </a:rPr>
              <a:t>自然保护区与生态巡护</a:t>
            </a:r>
          </a:p>
        </p:txBody>
      </p:sp>
      <p:sp>
        <p:nvSpPr>
          <p:cNvPr id="2" name="PA-缺角矩形 2">
            <a:extLst>
              <a:ext uri="{FF2B5EF4-FFF2-40B4-BE49-F238E27FC236}">
                <a16:creationId xmlns:a16="http://schemas.microsoft.com/office/drawing/2014/main" id="{000DEF84-BB26-0D30-FB52-FDB798AD35D2}"/>
              </a:ext>
            </a:extLst>
          </p:cNvPr>
          <p:cNvSpPr/>
          <p:nvPr/>
        </p:nvSpPr>
        <p:spPr>
          <a:xfrm>
            <a:off x="502390" y="3255780"/>
            <a:ext cx="6439315" cy="1224780"/>
          </a:xfrm>
          <a:prstGeom prst="plaque">
            <a:avLst>
              <a:gd name="adj" fmla="val 4421"/>
            </a:avLst>
          </a:prstGeom>
          <a:gradFill flip="none" rotWithShape="0">
            <a:gsLst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accent2">
                  <a:lumMod val="0"/>
                  <a:lumOff val="100000"/>
                </a:schemeClr>
              </a:gs>
            </a:gsLst>
            <a:lin ang="5400000" scaled="1"/>
            <a:tileRect/>
          </a:gradFill>
          <a:ln w="12700">
            <a:solidFill>
              <a:schemeClr val="accent1">
                <a:alpha val="80000"/>
              </a:schemeClr>
            </a:solidFill>
          </a:ln>
          <a:effectLst>
            <a:outerShdw blurRad="381000" dist="279400" dir="5400000" sx="96000" sy="96000" algn="t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gradFill flip="none" rotWithShape="1">
                <a:gsLst>
                  <a:gs pos="0">
                    <a:srgbClr val="A3561D">
                      <a:lumMod val="82000"/>
                      <a:lumOff val="18000"/>
                    </a:srgbClr>
                  </a:gs>
                  <a:gs pos="100000">
                    <a:srgbClr val="A3561D"/>
                  </a:gs>
                </a:gsLst>
                <a:lin ang="2700000" scaled="1"/>
                <a:tileRect/>
              </a:gra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" name="内容占位符 4">
            <a:extLst>
              <a:ext uri="{FF2B5EF4-FFF2-40B4-BE49-F238E27FC236}">
                <a16:creationId xmlns:a16="http://schemas.microsoft.com/office/drawing/2014/main" id="{C2BA4BBA-B86C-886A-0B97-84585CBFFBC8}"/>
              </a:ext>
            </a:extLst>
          </p:cNvPr>
          <p:cNvSpPr txBox="1"/>
          <p:nvPr/>
        </p:nvSpPr>
        <p:spPr>
          <a:xfrm>
            <a:off x="528261" y="3400860"/>
            <a:ext cx="6428758" cy="8802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742950" indent="-285750" algn="l" rtl="0" eaLnBrk="0" fontAlgn="base" hangingPunct="0">
              <a:spcBef>
                <a:spcPts val="6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11430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6002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20574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  <a:buClr>
                <a:prstClr val="black"/>
              </a:buClr>
              <a:buFont typeface="Wingdings" panose="05000000000000000000" pitchFamily="2" charset="2"/>
              <a:buChar char="q"/>
              <a:defRPr/>
            </a:pPr>
            <a:r>
              <a:rPr lang="zh-CN" altLang="en-US" sz="1600" dirty="0">
                <a:solidFill>
                  <a:prstClr val="black"/>
                </a:solidFill>
              </a:rPr>
              <a:t>把目标从“鸟鸣”拓展到“异常声音”，例如</a:t>
            </a:r>
            <a:r>
              <a:rPr lang="zh-CN" altLang="en-US" sz="1600" dirty="0">
                <a:solidFill>
                  <a:srgbClr val="C00000"/>
                </a:solidFill>
              </a:rPr>
              <a:t>林区</a:t>
            </a:r>
            <a:r>
              <a:rPr lang="zh-CN" altLang="en-US" sz="1600" dirty="0">
                <a:solidFill>
                  <a:prstClr val="black"/>
                </a:solidFill>
              </a:rPr>
              <a:t>中的非法砍伐、异常敲击声、车辆闯入声等。系统可通过声音先发现异常方向，再调用摄像头搜索并确认目标，为</a:t>
            </a:r>
            <a:r>
              <a:rPr lang="zh-CN" altLang="en-US" sz="1600" dirty="0">
                <a:solidFill>
                  <a:srgbClr val="C00000"/>
                </a:solidFill>
              </a:rPr>
              <a:t>林区安防和巡护</a:t>
            </a:r>
            <a:r>
              <a:rPr lang="zh-CN" altLang="en-US" sz="1600" dirty="0">
                <a:solidFill>
                  <a:prstClr val="black"/>
                </a:solidFill>
              </a:rPr>
              <a:t>提供辅助。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796E392-1B21-8687-F68A-1A5651357AB0}"/>
              </a:ext>
            </a:extLst>
          </p:cNvPr>
          <p:cNvSpPr/>
          <p:nvPr/>
        </p:nvSpPr>
        <p:spPr>
          <a:xfrm rot="16200000">
            <a:off x="1742581" y="1792542"/>
            <a:ext cx="341771" cy="2837162"/>
          </a:xfrm>
          <a:custGeom>
            <a:avLst/>
            <a:gdLst>
              <a:gd name="connsiteX0" fmla="*/ 311113 w 990558"/>
              <a:gd name="connsiteY0" fmla="*/ 0 h 3041291"/>
              <a:gd name="connsiteX1" fmla="*/ 679445 w 990558"/>
              <a:gd name="connsiteY1" fmla="*/ 0 h 3041291"/>
              <a:gd name="connsiteX2" fmla="*/ 860620 w 990558"/>
              <a:gd name="connsiteY2" fmla="*/ 120091 h 3041291"/>
              <a:gd name="connsiteX3" fmla="*/ 863046 w 990558"/>
              <a:gd name="connsiteY3" fmla="*/ 127905 h 3041291"/>
              <a:gd name="connsiteX4" fmla="*/ 902199 w 990558"/>
              <a:gd name="connsiteY4" fmla="*/ 135810 h 3041291"/>
              <a:gd name="connsiteX5" fmla="*/ 990558 w 990558"/>
              <a:gd name="connsiteY5" fmla="*/ 269112 h 3041291"/>
              <a:gd name="connsiteX6" fmla="*/ 990558 w 990558"/>
              <a:gd name="connsiteY6" fmla="*/ 502996 h 3041291"/>
              <a:gd name="connsiteX7" fmla="*/ 990558 w 990558"/>
              <a:gd name="connsiteY7" fmla="*/ 2448698 h 3041291"/>
              <a:gd name="connsiteX8" fmla="*/ 990558 w 990558"/>
              <a:gd name="connsiteY8" fmla="*/ 2682582 h 3041291"/>
              <a:gd name="connsiteX9" fmla="*/ 902199 w 990558"/>
              <a:gd name="connsiteY9" fmla="*/ 2815884 h 3041291"/>
              <a:gd name="connsiteX10" fmla="*/ 863046 w 990558"/>
              <a:gd name="connsiteY10" fmla="*/ 2823789 h 3041291"/>
              <a:gd name="connsiteX11" fmla="*/ 860620 w 990558"/>
              <a:gd name="connsiteY11" fmla="*/ 2831603 h 3041291"/>
              <a:gd name="connsiteX12" fmla="*/ 679445 w 990558"/>
              <a:gd name="connsiteY12" fmla="*/ 2951694 h 3041291"/>
              <a:gd name="connsiteX13" fmla="*/ 659898 w 990558"/>
              <a:gd name="connsiteY13" fmla="*/ 2951694 h 3041291"/>
              <a:gd name="connsiteX14" fmla="*/ 658318 w 990558"/>
              <a:gd name="connsiteY14" fmla="*/ 2954604 h 3041291"/>
              <a:gd name="connsiteX15" fmla="*/ 495279 w 990558"/>
              <a:gd name="connsiteY15" fmla="*/ 3041291 h 3041291"/>
              <a:gd name="connsiteX16" fmla="*/ 332240 w 990558"/>
              <a:gd name="connsiteY16" fmla="*/ 2954604 h 3041291"/>
              <a:gd name="connsiteX17" fmla="*/ 330661 w 990558"/>
              <a:gd name="connsiteY17" fmla="*/ 2951694 h 3041291"/>
              <a:gd name="connsiteX18" fmla="*/ 311113 w 990558"/>
              <a:gd name="connsiteY18" fmla="*/ 2951694 h 3041291"/>
              <a:gd name="connsiteX19" fmla="*/ 129939 w 990558"/>
              <a:gd name="connsiteY19" fmla="*/ 2831603 h 3041291"/>
              <a:gd name="connsiteX20" fmla="*/ 127512 w 990558"/>
              <a:gd name="connsiteY20" fmla="*/ 2823789 h 3041291"/>
              <a:gd name="connsiteX21" fmla="*/ 88359 w 990558"/>
              <a:gd name="connsiteY21" fmla="*/ 2815884 h 3041291"/>
              <a:gd name="connsiteX22" fmla="*/ 0 w 990558"/>
              <a:gd name="connsiteY22" fmla="*/ 2682582 h 3041291"/>
              <a:gd name="connsiteX23" fmla="*/ 0 w 990558"/>
              <a:gd name="connsiteY23" fmla="*/ 2448698 h 3041291"/>
              <a:gd name="connsiteX24" fmla="*/ 0 w 990558"/>
              <a:gd name="connsiteY24" fmla="*/ 502996 h 3041291"/>
              <a:gd name="connsiteX25" fmla="*/ 0 w 990558"/>
              <a:gd name="connsiteY25" fmla="*/ 269112 h 3041291"/>
              <a:gd name="connsiteX26" fmla="*/ 88359 w 990558"/>
              <a:gd name="connsiteY26" fmla="*/ 135810 h 3041291"/>
              <a:gd name="connsiteX27" fmla="*/ 127512 w 990558"/>
              <a:gd name="connsiteY27" fmla="*/ 127905 h 3041291"/>
              <a:gd name="connsiteX28" fmla="*/ 129939 w 990558"/>
              <a:gd name="connsiteY28" fmla="*/ 120091 h 3041291"/>
              <a:gd name="connsiteX29" fmla="*/ 311113 w 990558"/>
              <a:gd name="connsiteY29" fmla="*/ 0 h 3041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990558" h="3041291">
                <a:moveTo>
                  <a:pt x="311113" y="0"/>
                </a:moveTo>
                <a:lnTo>
                  <a:pt x="679445" y="0"/>
                </a:lnTo>
                <a:cubicBezTo>
                  <a:pt x="760890" y="0"/>
                  <a:pt x="830770" y="49518"/>
                  <a:pt x="860620" y="120091"/>
                </a:cubicBezTo>
                <a:lnTo>
                  <a:pt x="863046" y="127905"/>
                </a:lnTo>
                <a:lnTo>
                  <a:pt x="902199" y="135810"/>
                </a:lnTo>
                <a:cubicBezTo>
                  <a:pt x="954124" y="157773"/>
                  <a:pt x="990558" y="209188"/>
                  <a:pt x="990558" y="269112"/>
                </a:cubicBezTo>
                <a:lnTo>
                  <a:pt x="990558" y="502996"/>
                </a:lnTo>
                <a:lnTo>
                  <a:pt x="990558" y="2448698"/>
                </a:lnTo>
                <a:lnTo>
                  <a:pt x="990558" y="2682582"/>
                </a:lnTo>
                <a:cubicBezTo>
                  <a:pt x="990558" y="2742506"/>
                  <a:pt x="954124" y="2793922"/>
                  <a:pt x="902199" y="2815884"/>
                </a:cubicBezTo>
                <a:lnTo>
                  <a:pt x="863046" y="2823789"/>
                </a:lnTo>
                <a:lnTo>
                  <a:pt x="860620" y="2831603"/>
                </a:lnTo>
                <a:cubicBezTo>
                  <a:pt x="830770" y="2902176"/>
                  <a:pt x="760890" y="2951694"/>
                  <a:pt x="679445" y="2951694"/>
                </a:cubicBezTo>
                <a:lnTo>
                  <a:pt x="659898" y="2951694"/>
                </a:lnTo>
                <a:lnTo>
                  <a:pt x="658318" y="2954604"/>
                </a:lnTo>
                <a:cubicBezTo>
                  <a:pt x="622984" y="3006905"/>
                  <a:pt x="563147" y="3041291"/>
                  <a:pt x="495279" y="3041291"/>
                </a:cubicBezTo>
                <a:cubicBezTo>
                  <a:pt x="427411" y="3041291"/>
                  <a:pt x="367574" y="3006905"/>
                  <a:pt x="332240" y="2954604"/>
                </a:cubicBezTo>
                <a:lnTo>
                  <a:pt x="330661" y="2951694"/>
                </a:lnTo>
                <a:lnTo>
                  <a:pt x="311113" y="2951694"/>
                </a:lnTo>
                <a:cubicBezTo>
                  <a:pt x="229668" y="2951694"/>
                  <a:pt x="159788" y="2902176"/>
                  <a:pt x="129939" y="2831603"/>
                </a:cubicBezTo>
                <a:lnTo>
                  <a:pt x="127512" y="2823789"/>
                </a:lnTo>
                <a:lnTo>
                  <a:pt x="88359" y="2815884"/>
                </a:lnTo>
                <a:cubicBezTo>
                  <a:pt x="36434" y="2793922"/>
                  <a:pt x="0" y="2742506"/>
                  <a:pt x="0" y="2682582"/>
                </a:cubicBezTo>
                <a:lnTo>
                  <a:pt x="0" y="2448698"/>
                </a:lnTo>
                <a:lnTo>
                  <a:pt x="0" y="502996"/>
                </a:lnTo>
                <a:lnTo>
                  <a:pt x="0" y="269112"/>
                </a:lnTo>
                <a:cubicBezTo>
                  <a:pt x="0" y="209188"/>
                  <a:pt x="36434" y="157773"/>
                  <a:pt x="88359" y="135810"/>
                </a:cubicBezTo>
                <a:lnTo>
                  <a:pt x="127512" y="127905"/>
                </a:lnTo>
                <a:lnTo>
                  <a:pt x="129939" y="120091"/>
                </a:lnTo>
                <a:cubicBezTo>
                  <a:pt x="159788" y="49518"/>
                  <a:pt x="229668" y="0"/>
                  <a:pt x="311113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75000"/>
                </a:schemeClr>
              </a:gs>
              <a:gs pos="19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>
            <a:solidFill>
              <a:schemeClr val="accent1">
                <a:lumMod val="50000"/>
                <a:alpha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A3561D">
                      <a:lumMod val="82000"/>
                      <a:lumOff val="18000"/>
                    </a:srgbClr>
                  </a:gs>
                  <a:gs pos="100000">
                    <a:srgbClr val="A3561D"/>
                  </a:gs>
                </a:gsLst>
                <a:lin ang="2700000" scaled="1"/>
                <a:tileRect/>
              </a:gra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  <p:sp>
        <p:nvSpPr>
          <p:cNvPr id="5" name="文本框 31">
            <a:extLst>
              <a:ext uri="{FF2B5EF4-FFF2-40B4-BE49-F238E27FC236}">
                <a16:creationId xmlns:a16="http://schemas.microsoft.com/office/drawing/2014/main" id="{B87E6B5B-12E5-1C39-2447-0F91C7E7FF2D}"/>
              </a:ext>
            </a:extLst>
          </p:cNvPr>
          <p:cNvSpPr txBox="1"/>
          <p:nvPr/>
        </p:nvSpPr>
        <p:spPr>
          <a:xfrm>
            <a:off x="602406" y="3037835"/>
            <a:ext cx="2622119" cy="39369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 fontAlgn="base">
              <a:spcBef>
                <a:spcPct val="0"/>
              </a:spcBef>
              <a:buClr>
                <a:srgbClr val="005AD2"/>
              </a:buClr>
              <a:buSzPct val="100000"/>
              <a:defRPr/>
            </a:pPr>
            <a:r>
              <a:rPr lang="zh-CN" altLang="en-US" sz="2000" b="1" kern="0" dirty="0">
                <a:solidFill>
                  <a:prstClr val="white"/>
                </a:solidFill>
                <a:latin typeface="+mj-ea"/>
                <a:ea typeface="+mj-ea"/>
                <a:cs typeface="+mn-ea"/>
                <a:sym typeface="+mn-lt"/>
              </a:rPr>
              <a:t>林区安全巡查与监测</a:t>
            </a:r>
          </a:p>
        </p:txBody>
      </p:sp>
      <p:sp>
        <p:nvSpPr>
          <p:cNvPr id="6" name="PA-缺角矩形 2">
            <a:extLst>
              <a:ext uri="{FF2B5EF4-FFF2-40B4-BE49-F238E27FC236}">
                <a16:creationId xmlns:a16="http://schemas.microsoft.com/office/drawing/2014/main" id="{E4974BD9-D321-0B15-E3D2-5B3EC290210C}"/>
              </a:ext>
            </a:extLst>
          </p:cNvPr>
          <p:cNvSpPr/>
          <p:nvPr/>
        </p:nvSpPr>
        <p:spPr>
          <a:xfrm>
            <a:off x="517704" y="5031240"/>
            <a:ext cx="6439315" cy="1224780"/>
          </a:xfrm>
          <a:prstGeom prst="plaque">
            <a:avLst>
              <a:gd name="adj" fmla="val 4421"/>
            </a:avLst>
          </a:prstGeom>
          <a:gradFill flip="none" rotWithShape="0">
            <a:gsLst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accent2">
                  <a:lumMod val="0"/>
                  <a:lumOff val="100000"/>
                </a:schemeClr>
              </a:gs>
            </a:gsLst>
            <a:lin ang="5400000" scaled="1"/>
            <a:tileRect/>
          </a:gradFill>
          <a:ln w="12700">
            <a:solidFill>
              <a:schemeClr val="accent1">
                <a:alpha val="80000"/>
              </a:schemeClr>
            </a:solidFill>
          </a:ln>
          <a:effectLst>
            <a:outerShdw blurRad="381000" dist="279400" dir="5400000" sx="96000" sy="96000" algn="t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gradFill flip="none" rotWithShape="1">
                <a:gsLst>
                  <a:gs pos="0">
                    <a:srgbClr val="A3561D">
                      <a:lumMod val="82000"/>
                      <a:lumOff val="18000"/>
                    </a:srgbClr>
                  </a:gs>
                  <a:gs pos="100000">
                    <a:srgbClr val="A3561D"/>
                  </a:gs>
                </a:gsLst>
                <a:lin ang="2700000" scaled="1"/>
                <a:tileRect/>
              </a:gra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7" name="内容占位符 4">
            <a:extLst>
              <a:ext uri="{FF2B5EF4-FFF2-40B4-BE49-F238E27FC236}">
                <a16:creationId xmlns:a16="http://schemas.microsoft.com/office/drawing/2014/main" id="{257071EB-8C70-F2D6-F172-087C7171DB48}"/>
              </a:ext>
            </a:extLst>
          </p:cNvPr>
          <p:cNvSpPr txBox="1"/>
          <p:nvPr/>
        </p:nvSpPr>
        <p:spPr>
          <a:xfrm>
            <a:off x="543575" y="5176320"/>
            <a:ext cx="6428758" cy="8802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742950" indent="-285750" algn="l" rtl="0" eaLnBrk="0" fontAlgn="base" hangingPunct="0">
              <a:spcBef>
                <a:spcPts val="6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11430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6002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20574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  <a:buClr>
                <a:prstClr val="black"/>
              </a:buClr>
              <a:buFont typeface="Wingdings" panose="05000000000000000000" pitchFamily="2" charset="2"/>
              <a:buChar char="q"/>
              <a:defRPr/>
            </a:pPr>
            <a:r>
              <a:rPr lang="zh-CN" altLang="en-US" sz="1600" dirty="0">
                <a:solidFill>
                  <a:prstClr val="black"/>
                </a:solidFill>
              </a:rPr>
              <a:t>在</a:t>
            </a:r>
            <a:r>
              <a:rPr lang="zh-CN" altLang="en-US" sz="1600" dirty="0">
                <a:solidFill>
                  <a:srgbClr val="C00000"/>
                </a:solidFill>
              </a:rPr>
              <a:t>农田、果园、养殖场</a:t>
            </a:r>
            <a:r>
              <a:rPr lang="zh-CN" altLang="en-US" sz="1600" dirty="0">
                <a:solidFill>
                  <a:prstClr val="black"/>
                </a:solidFill>
              </a:rPr>
              <a:t>等场景中，系统可用于监测鸟类活动、驱鸟预警，或拓展到特定动物叫声、异常扰动声音的感知与识别。结合摄像头联动后，可以更快确认目标位置，辅助管理人员及时处理。</a:t>
            </a: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CEBA80C8-DE73-D05A-5C8A-3A94D2B27D74}"/>
              </a:ext>
            </a:extLst>
          </p:cNvPr>
          <p:cNvSpPr/>
          <p:nvPr/>
        </p:nvSpPr>
        <p:spPr>
          <a:xfrm rot="16200000">
            <a:off x="1757895" y="3568002"/>
            <a:ext cx="341771" cy="2837162"/>
          </a:xfrm>
          <a:custGeom>
            <a:avLst/>
            <a:gdLst>
              <a:gd name="connsiteX0" fmla="*/ 311113 w 990558"/>
              <a:gd name="connsiteY0" fmla="*/ 0 h 3041291"/>
              <a:gd name="connsiteX1" fmla="*/ 679445 w 990558"/>
              <a:gd name="connsiteY1" fmla="*/ 0 h 3041291"/>
              <a:gd name="connsiteX2" fmla="*/ 860620 w 990558"/>
              <a:gd name="connsiteY2" fmla="*/ 120091 h 3041291"/>
              <a:gd name="connsiteX3" fmla="*/ 863046 w 990558"/>
              <a:gd name="connsiteY3" fmla="*/ 127905 h 3041291"/>
              <a:gd name="connsiteX4" fmla="*/ 902199 w 990558"/>
              <a:gd name="connsiteY4" fmla="*/ 135810 h 3041291"/>
              <a:gd name="connsiteX5" fmla="*/ 990558 w 990558"/>
              <a:gd name="connsiteY5" fmla="*/ 269112 h 3041291"/>
              <a:gd name="connsiteX6" fmla="*/ 990558 w 990558"/>
              <a:gd name="connsiteY6" fmla="*/ 502996 h 3041291"/>
              <a:gd name="connsiteX7" fmla="*/ 990558 w 990558"/>
              <a:gd name="connsiteY7" fmla="*/ 2448698 h 3041291"/>
              <a:gd name="connsiteX8" fmla="*/ 990558 w 990558"/>
              <a:gd name="connsiteY8" fmla="*/ 2682582 h 3041291"/>
              <a:gd name="connsiteX9" fmla="*/ 902199 w 990558"/>
              <a:gd name="connsiteY9" fmla="*/ 2815884 h 3041291"/>
              <a:gd name="connsiteX10" fmla="*/ 863046 w 990558"/>
              <a:gd name="connsiteY10" fmla="*/ 2823789 h 3041291"/>
              <a:gd name="connsiteX11" fmla="*/ 860620 w 990558"/>
              <a:gd name="connsiteY11" fmla="*/ 2831603 h 3041291"/>
              <a:gd name="connsiteX12" fmla="*/ 679445 w 990558"/>
              <a:gd name="connsiteY12" fmla="*/ 2951694 h 3041291"/>
              <a:gd name="connsiteX13" fmla="*/ 659898 w 990558"/>
              <a:gd name="connsiteY13" fmla="*/ 2951694 h 3041291"/>
              <a:gd name="connsiteX14" fmla="*/ 658318 w 990558"/>
              <a:gd name="connsiteY14" fmla="*/ 2954604 h 3041291"/>
              <a:gd name="connsiteX15" fmla="*/ 495279 w 990558"/>
              <a:gd name="connsiteY15" fmla="*/ 3041291 h 3041291"/>
              <a:gd name="connsiteX16" fmla="*/ 332240 w 990558"/>
              <a:gd name="connsiteY16" fmla="*/ 2954604 h 3041291"/>
              <a:gd name="connsiteX17" fmla="*/ 330661 w 990558"/>
              <a:gd name="connsiteY17" fmla="*/ 2951694 h 3041291"/>
              <a:gd name="connsiteX18" fmla="*/ 311113 w 990558"/>
              <a:gd name="connsiteY18" fmla="*/ 2951694 h 3041291"/>
              <a:gd name="connsiteX19" fmla="*/ 129939 w 990558"/>
              <a:gd name="connsiteY19" fmla="*/ 2831603 h 3041291"/>
              <a:gd name="connsiteX20" fmla="*/ 127512 w 990558"/>
              <a:gd name="connsiteY20" fmla="*/ 2823789 h 3041291"/>
              <a:gd name="connsiteX21" fmla="*/ 88359 w 990558"/>
              <a:gd name="connsiteY21" fmla="*/ 2815884 h 3041291"/>
              <a:gd name="connsiteX22" fmla="*/ 0 w 990558"/>
              <a:gd name="connsiteY22" fmla="*/ 2682582 h 3041291"/>
              <a:gd name="connsiteX23" fmla="*/ 0 w 990558"/>
              <a:gd name="connsiteY23" fmla="*/ 2448698 h 3041291"/>
              <a:gd name="connsiteX24" fmla="*/ 0 w 990558"/>
              <a:gd name="connsiteY24" fmla="*/ 502996 h 3041291"/>
              <a:gd name="connsiteX25" fmla="*/ 0 w 990558"/>
              <a:gd name="connsiteY25" fmla="*/ 269112 h 3041291"/>
              <a:gd name="connsiteX26" fmla="*/ 88359 w 990558"/>
              <a:gd name="connsiteY26" fmla="*/ 135810 h 3041291"/>
              <a:gd name="connsiteX27" fmla="*/ 127512 w 990558"/>
              <a:gd name="connsiteY27" fmla="*/ 127905 h 3041291"/>
              <a:gd name="connsiteX28" fmla="*/ 129939 w 990558"/>
              <a:gd name="connsiteY28" fmla="*/ 120091 h 3041291"/>
              <a:gd name="connsiteX29" fmla="*/ 311113 w 990558"/>
              <a:gd name="connsiteY29" fmla="*/ 0 h 3041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990558" h="3041291">
                <a:moveTo>
                  <a:pt x="311113" y="0"/>
                </a:moveTo>
                <a:lnTo>
                  <a:pt x="679445" y="0"/>
                </a:lnTo>
                <a:cubicBezTo>
                  <a:pt x="760890" y="0"/>
                  <a:pt x="830770" y="49518"/>
                  <a:pt x="860620" y="120091"/>
                </a:cubicBezTo>
                <a:lnTo>
                  <a:pt x="863046" y="127905"/>
                </a:lnTo>
                <a:lnTo>
                  <a:pt x="902199" y="135810"/>
                </a:lnTo>
                <a:cubicBezTo>
                  <a:pt x="954124" y="157773"/>
                  <a:pt x="990558" y="209188"/>
                  <a:pt x="990558" y="269112"/>
                </a:cubicBezTo>
                <a:lnTo>
                  <a:pt x="990558" y="502996"/>
                </a:lnTo>
                <a:lnTo>
                  <a:pt x="990558" y="2448698"/>
                </a:lnTo>
                <a:lnTo>
                  <a:pt x="990558" y="2682582"/>
                </a:lnTo>
                <a:cubicBezTo>
                  <a:pt x="990558" y="2742506"/>
                  <a:pt x="954124" y="2793922"/>
                  <a:pt x="902199" y="2815884"/>
                </a:cubicBezTo>
                <a:lnTo>
                  <a:pt x="863046" y="2823789"/>
                </a:lnTo>
                <a:lnTo>
                  <a:pt x="860620" y="2831603"/>
                </a:lnTo>
                <a:cubicBezTo>
                  <a:pt x="830770" y="2902176"/>
                  <a:pt x="760890" y="2951694"/>
                  <a:pt x="679445" y="2951694"/>
                </a:cubicBezTo>
                <a:lnTo>
                  <a:pt x="659898" y="2951694"/>
                </a:lnTo>
                <a:lnTo>
                  <a:pt x="658318" y="2954604"/>
                </a:lnTo>
                <a:cubicBezTo>
                  <a:pt x="622984" y="3006905"/>
                  <a:pt x="563147" y="3041291"/>
                  <a:pt x="495279" y="3041291"/>
                </a:cubicBezTo>
                <a:cubicBezTo>
                  <a:pt x="427411" y="3041291"/>
                  <a:pt x="367574" y="3006905"/>
                  <a:pt x="332240" y="2954604"/>
                </a:cubicBezTo>
                <a:lnTo>
                  <a:pt x="330661" y="2951694"/>
                </a:lnTo>
                <a:lnTo>
                  <a:pt x="311113" y="2951694"/>
                </a:lnTo>
                <a:cubicBezTo>
                  <a:pt x="229668" y="2951694"/>
                  <a:pt x="159788" y="2902176"/>
                  <a:pt x="129939" y="2831603"/>
                </a:cubicBezTo>
                <a:lnTo>
                  <a:pt x="127512" y="2823789"/>
                </a:lnTo>
                <a:lnTo>
                  <a:pt x="88359" y="2815884"/>
                </a:lnTo>
                <a:cubicBezTo>
                  <a:pt x="36434" y="2793922"/>
                  <a:pt x="0" y="2742506"/>
                  <a:pt x="0" y="2682582"/>
                </a:cubicBezTo>
                <a:lnTo>
                  <a:pt x="0" y="2448698"/>
                </a:lnTo>
                <a:lnTo>
                  <a:pt x="0" y="502996"/>
                </a:lnTo>
                <a:lnTo>
                  <a:pt x="0" y="269112"/>
                </a:lnTo>
                <a:cubicBezTo>
                  <a:pt x="0" y="209188"/>
                  <a:pt x="36434" y="157773"/>
                  <a:pt x="88359" y="135810"/>
                </a:cubicBezTo>
                <a:lnTo>
                  <a:pt x="127512" y="127905"/>
                </a:lnTo>
                <a:lnTo>
                  <a:pt x="129939" y="120091"/>
                </a:lnTo>
                <a:cubicBezTo>
                  <a:pt x="159788" y="49518"/>
                  <a:pt x="229668" y="0"/>
                  <a:pt x="311113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75000"/>
                </a:schemeClr>
              </a:gs>
              <a:gs pos="19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>
            <a:solidFill>
              <a:schemeClr val="accent1">
                <a:lumMod val="50000"/>
                <a:alpha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A3561D">
                      <a:lumMod val="82000"/>
                      <a:lumOff val="18000"/>
                    </a:srgbClr>
                  </a:gs>
                  <a:gs pos="100000">
                    <a:srgbClr val="A3561D"/>
                  </a:gs>
                </a:gsLst>
                <a:lin ang="2700000" scaled="1"/>
                <a:tileRect/>
              </a:gra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  <p:sp>
        <p:nvSpPr>
          <p:cNvPr id="9" name="文本框 31">
            <a:extLst>
              <a:ext uri="{FF2B5EF4-FFF2-40B4-BE49-F238E27FC236}">
                <a16:creationId xmlns:a16="http://schemas.microsoft.com/office/drawing/2014/main" id="{CD83F794-6FAD-5DF9-0716-B32066D1043D}"/>
              </a:ext>
            </a:extLst>
          </p:cNvPr>
          <p:cNvSpPr txBox="1"/>
          <p:nvPr/>
        </p:nvSpPr>
        <p:spPr>
          <a:xfrm>
            <a:off x="617720" y="4813295"/>
            <a:ext cx="2622119" cy="39369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 fontAlgn="base">
              <a:spcBef>
                <a:spcPct val="0"/>
              </a:spcBef>
              <a:buClr>
                <a:srgbClr val="005AD2"/>
              </a:buClr>
              <a:buSzPct val="100000"/>
              <a:defRPr/>
            </a:pPr>
            <a:r>
              <a:rPr lang="zh-CN" altLang="en-US" sz="2000" b="1" kern="0" dirty="0">
                <a:solidFill>
                  <a:prstClr val="white"/>
                </a:solidFill>
                <a:latin typeface="+mj-ea"/>
                <a:ea typeface="+mj-ea"/>
                <a:cs typeface="+mn-ea"/>
                <a:sym typeface="+mn-lt"/>
              </a:rPr>
              <a:t>智慧农业与环境监测</a:t>
            </a:r>
            <a:endParaRPr lang="zh-CN" altLang="en-US" sz="2000" b="1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cs typeface="+mn-ea"/>
              <a:sym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AB40AA3-C8C4-B0B9-2CF5-5BFBCE9B74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2389" y="1404937"/>
            <a:ext cx="4276725" cy="23669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1CF5FDF-2BAD-EB6E-899A-AB7C1D408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0848" y="3916980"/>
            <a:ext cx="4268265" cy="25066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10094" y="2215977"/>
            <a:ext cx="112498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9600" b="1" dirty="0">
                <a:gradFill flip="none" rotWithShape="1">
                  <a:gsLst>
                    <a:gs pos="0">
                      <a:srgbClr val="FFC000">
                        <a:lumMod val="60000"/>
                        <a:lumOff val="40000"/>
                      </a:srgbClr>
                    </a:gs>
                    <a:gs pos="100000">
                      <a:prstClr val="white"/>
                    </a:gs>
                  </a:gsLst>
                  <a:lin ang="5400000" scaled="1"/>
                  <a:tileRect/>
                </a:gra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请评委老师批评指正</a:t>
            </a:r>
            <a:endParaRPr kumimoji="1" lang="zh-CN" altLang="zh-CN" sz="66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FFC000">
                      <a:lumMod val="60000"/>
                      <a:lumOff val="40000"/>
                    </a:srgbClr>
                  </a:gs>
                  <a:gs pos="100000">
                    <a:prstClr val="white"/>
                  </a:gs>
                </a:gsLst>
                <a:lin ang="5400000" scaled="1"/>
                <a:tileRect/>
              </a:gradFill>
              <a:effectLst/>
              <a:uLnTx/>
              <a:uFillTx/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11" name="Picture 2" descr="http://vi.xjtu.edu.cn/images/a4-5xbwhi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5576" y="855825"/>
            <a:ext cx="2060848" cy="551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3230380" y="4113170"/>
            <a:ext cx="5731239" cy="9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方正公文小标宋" charset="-122"/>
                <a:ea typeface="方正公文小标宋" charset="-122"/>
                <a:cs typeface="+mn-cs"/>
              </a:rPr>
              <a:t>耿泽宇   邹子乐   陈冠企</a:t>
            </a:r>
            <a:endParaRPr kumimoji="0" lang="en-US" altLang="zh-CN" sz="2000" b="1" i="0" u="none" strike="noStrike" kern="1200" cap="none" spc="0" normalizeH="0" baseline="0" noProof="0" dirty="0">
              <a:ln w="0"/>
              <a:solidFill>
                <a:prstClr val="white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方正公文小标宋" charset="-122"/>
              <a:ea typeface="方正公文小标宋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 dirty="0">
                <a:ln w="0"/>
                <a:solidFill>
                  <a:prstClr val="whit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公文小标宋" charset="-122"/>
                <a:ea typeface="方正公文小标宋" charset="-122"/>
              </a:rPr>
              <a:t>2026</a:t>
            </a:r>
            <a:r>
              <a:rPr lang="zh-CN" altLang="en-US" sz="2000" b="1" dirty="0">
                <a:ln w="0"/>
                <a:solidFill>
                  <a:prstClr val="whit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公文小标宋" charset="-122"/>
                <a:ea typeface="方正公文小标宋" charset="-122"/>
              </a:rPr>
              <a:t>年</a:t>
            </a:r>
            <a:r>
              <a:rPr lang="en-US" altLang="zh-CN" sz="2000" b="1" dirty="0">
                <a:ln w="0"/>
                <a:solidFill>
                  <a:prstClr val="whit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公文小标宋" charset="-122"/>
                <a:ea typeface="方正公文小标宋" charset="-122"/>
              </a:rPr>
              <a:t>3</a:t>
            </a:r>
            <a:r>
              <a:rPr lang="zh-CN" altLang="en-US" sz="2000" b="1" dirty="0">
                <a:ln w="0"/>
                <a:solidFill>
                  <a:prstClr val="whit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公文小标宋" charset="-122"/>
                <a:ea typeface="方正公文小标宋" charset="-122"/>
              </a:rPr>
              <a:t>月</a:t>
            </a:r>
            <a:r>
              <a:rPr lang="en-US" altLang="zh-CN" sz="2000" b="1" dirty="0">
                <a:ln w="0"/>
                <a:solidFill>
                  <a:prstClr val="whit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公文小标宋" charset="-122"/>
                <a:ea typeface="方正公文小标宋" charset="-122"/>
              </a:rPr>
              <a:t>17</a:t>
            </a:r>
            <a:r>
              <a:rPr lang="zh-CN" altLang="en-US" sz="2000" b="1" dirty="0">
                <a:ln w="0"/>
                <a:solidFill>
                  <a:prstClr val="whit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公文小标宋" charset="-122"/>
                <a:ea typeface="方正公文小标宋" charset="-122"/>
              </a:rPr>
              <a:t>日</a:t>
            </a:r>
            <a:endParaRPr kumimoji="0" lang="zh-CN" altLang="en-US" sz="1400" b="1" i="0" u="none" strike="noStrike" kern="1200" cap="none" spc="0" normalizeH="0" baseline="0" noProof="0" dirty="0">
              <a:ln w="0"/>
              <a:solidFill>
                <a:prstClr val="white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方正公文小标宋" charset="-122"/>
              <a:ea typeface="方正公文小标宋" charset="-122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0E8D4B66-D254-4761-AB45-7B776F8AE2F0}"/>
              </a:ext>
            </a:extLst>
          </p:cNvPr>
          <p:cNvSpPr/>
          <p:nvPr/>
        </p:nvSpPr>
        <p:spPr>
          <a:xfrm>
            <a:off x="13559427" y="508452"/>
            <a:ext cx="2837162" cy="1525356"/>
          </a:xfrm>
          <a:custGeom>
            <a:avLst/>
            <a:gdLst>
              <a:gd name="connsiteX0" fmla="*/ 0 w 2241629"/>
              <a:gd name="connsiteY0" fmla="*/ 0 h 1205177"/>
              <a:gd name="connsiteX1" fmla="*/ 2241629 w 2241629"/>
              <a:gd name="connsiteY1" fmla="*/ 0 h 1205177"/>
              <a:gd name="connsiteX2" fmla="*/ 2241629 w 2241629"/>
              <a:gd name="connsiteY2" fmla="*/ 1205177 h 1205177"/>
              <a:gd name="connsiteX3" fmla="*/ 0 w 2241629"/>
              <a:gd name="connsiteY3" fmla="*/ 1205177 h 1205177"/>
              <a:gd name="connsiteX4" fmla="*/ 0 w 2241629"/>
              <a:gd name="connsiteY4" fmla="*/ 0 h 1205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1629" h="1205177">
                <a:moveTo>
                  <a:pt x="0" y="0"/>
                </a:moveTo>
                <a:lnTo>
                  <a:pt x="2241629" y="0"/>
                </a:lnTo>
                <a:lnTo>
                  <a:pt x="2241629" y="1205177"/>
                </a:lnTo>
                <a:lnTo>
                  <a:pt x="0" y="120517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7160" numCol="1" spcCol="1270" anchor="ctr" anchorCtr="0">
            <a:noAutofit/>
          </a:bodyPr>
          <a:lstStyle/>
          <a:p>
            <a:pPr marL="0" lvl="0" indent="0" algn="l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3600" kern="120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5A55FBD-08EF-4518-B9FC-E52C11F1B210}"/>
              </a:ext>
            </a:extLst>
          </p:cNvPr>
          <p:cNvSpPr txBox="1"/>
          <p:nvPr/>
        </p:nvSpPr>
        <p:spPr>
          <a:xfrm>
            <a:off x="665043" y="328398"/>
            <a:ext cx="40064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6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原理介绍：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56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YOLO 26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56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4AD2E88-3881-4A02-8485-1388A33D5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33" y="1049482"/>
            <a:ext cx="5541703" cy="577215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D5BD353-572E-42F6-80A9-49BCF9B2CBFE}"/>
              </a:ext>
            </a:extLst>
          </p:cNvPr>
          <p:cNvSpPr/>
          <p:nvPr/>
        </p:nvSpPr>
        <p:spPr>
          <a:xfrm>
            <a:off x="6022831" y="1167699"/>
            <a:ext cx="5322109" cy="5582236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EE3C80-A657-4E58-9111-9497438E6657}"/>
              </a:ext>
            </a:extLst>
          </p:cNvPr>
          <p:cNvSpPr/>
          <p:nvPr/>
        </p:nvSpPr>
        <p:spPr>
          <a:xfrm>
            <a:off x="6702650" y="1371254"/>
            <a:ext cx="4116799" cy="662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  <a:defRPr/>
            </a:pPr>
            <a:r>
              <a:rPr lang="en-US" altLang="zh-CN" sz="2800" b="1" dirty="0">
                <a:solidFill>
                  <a:srgbClr val="3B46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YOLO 26</a:t>
            </a:r>
            <a:endParaRPr lang="zh-CN" altLang="en-US" sz="2800" b="1" dirty="0">
              <a:solidFill>
                <a:srgbClr val="3B468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317F70F-B955-402F-A30E-FDE0A62BD46E}"/>
              </a:ext>
            </a:extLst>
          </p:cNvPr>
          <p:cNvSpPr txBox="1"/>
          <p:nvPr/>
        </p:nvSpPr>
        <p:spPr>
          <a:xfrm>
            <a:off x="6373863" y="2254775"/>
            <a:ext cx="4774374" cy="4198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单阶段目标检测模型：一次前向推理同时完成目标定位与分类。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主干网络提特征：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Backbone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提取图像语义特征。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特征融合增强检测：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Neck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融合多尺度信息，提升不同尺寸目标检测能力。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检测头直接输出结果：输出目标框与类别信息。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端到端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NMS-free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：减少后处理延迟，更适合实时部署。</a:t>
            </a:r>
          </a:p>
        </p:txBody>
      </p:sp>
    </p:spTree>
    <p:extLst>
      <p:ext uri="{BB962C8B-B14F-4D97-AF65-F5344CB8AC3E}">
        <p14:creationId xmlns:p14="http://schemas.microsoft.com/office/powerpoint/2010/main" val="3710755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: 形状 14"/>
          <p:cNvSpPr/>
          <p:nvPr/>
        </p:nvSpPr>
        <p:spPr>
          <a:xfrm>
            <a:off x="13559427" y="508452"/>
            <a:ext cx="2837162" cy="1525356"/>
          </a:xfrm>
          <a:custGeom>
            <a:avLst/>
            <a:gdLst>
              <a:gd name="connsiteX0" fmla="*/ 0 w 2241629"/>
              <a:gd name="connsiteY0" fmla="*/ 0 h 1205177"/>
              <a:gd name="connsiteX1" fmla="*/ 2241629 w 2241629"/>
              <a:gd name="connsiteY1" fmla="*/ 0 h 1205177"/>
              <a:gd name="connsiteX2" fmla="*/ 2241629 w 2241629"/>
              <a:gd name="connsiteY2" fmla="*/ 1205177 h 1205177"/>
              <a:gd name="connsiteX3" fmla="*/ 0 w 2241629"/>
              <a:gd name="connsiteY3" fmla="*/ 1205177 h 1205177"/>
              <a:gd name="connsiteX4" fmla="*/ 0 w 2241629"/>
              <a:gd name="connsiteY4" fmla="*/ 0 h 1205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1629" h="1205177">
                <a:moveTo>
                  <a:pt x="0" y="0"/>
                </a:moveTo>
                <a:lnTo>
                  <a:pt x="2241629" y="0"/>
                </a:lnTo>
                <a:lnTo>
                  <a:pt x="2241629" y="1205177"/>
                </a:lnTo>
                <a:lnTo>
                  <a:pt x="0" y="120517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7160" numCol="1" spcCol="1270" anchor="ctr" anchorCtr="0">
            <a:noAutofit/>
          </a:bodyPr>
          <a:lstStyle/>
          <a:p>
            <a:pPr marL="0" lvl="0" indent="0" algn="l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3600" kern="1200"/>
          </a:p>
        </p:txBody>
      </p:sp>
      <p:sp>
        <p:nvSpPr>
          <p:cNvPr id="34" name="文本框 33"/>
          <p:cNvSpPr txBox="1"/>
          <p:nvPr/>
        </p:nvSpPr>
        <p:spPr>
          <a:xfrm>
            <a:off x="665043" y="328398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699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三、实现功能</a:t>
            </a:r>
            <a:r>
              <a:rPr lang="zh-CN" altLang="en-US" sz="3200" b="1" dirty="0">
                <a:solidFill>
                  <a:srgbClr val="005699"/>
                </a:solidFill>
                <a:latin typeface="微软雅黑" pitchFamily="34" charset="-122"/>
                <a:ea typeface="微软雅黑" pitchFamily="34" charset="-122"/>
              </a:rPr>
              <a:t>展示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5699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689" y="1047750"/>
            <a:ext cx="6163662" cy="56451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9E189F3-CE1F-4EEA-97E6-DF870E9AA4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777" y="1250950"/>
            <a:ext cx="5359400" cy="535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062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: 形状 14"/>
          <p:cNvSpPr/>
          <p:nvPr/>
        </p:nvSpPr>
        <p:spPr>
          <a:xfrm>
            <a:off x="13559427" y="508452"/>
            <a:ext cx="2837162" cy="1525356"/>
          </a:xfrm>
          <a:custGeom>
            <a:avLst/>
            <a:gdLst>
              <a:gd name="connsiteX0" fmla="*/ 0 w 2241629"/>
              <a:gd name="connsiteY0" fmla="*/ 0 h 1205177"/>
              <a:gd name="connsiteX1" fmla="*/ 2241629 w 2241629"/>
              <a:gd name="connsiteY1" fmla="*/ 0 h 1205177"/>
              <a:gd name="connsiteX2" fmla="*/ 2241629 w 2241629"/>
              <a:gd name="connsiteY2" fmla="*/ 1205177 h 1205177"/>
              <a:gd name="connsiteX3" fmla="*/ 0 w 2241629"/>
              <a:gd name="connsiteY3" fmla="*/ 1205177 h 1205177"/>
              <a:gd name="connsiteX4" fmla="*/ 0 w 2241629"/>
              <a:gd name="connsiteY4" fmla="*/ 0 h 1205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1629" h="1205177">
                <a:moveTo>
                  <a:pt x="0" y="0"/>
                </a:moveTo>
                <a:lnTo>
                  <a:pt x="2241629" y="0"/>
                </a:lnTo>
                <a:lnTo>
                  <a:pt x="2241629" y="1205177"/>
                </a:lnTo>
                <a:lnTo>
                  <a:pt x="0" y="120517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7160" numCol="1" spcCol="1270" anchor="ctr" anchorCtr="0">
            <a:noAutofit/>
          </a:bodyPr>
          <a:lstStyle/>
          <a:p>
            <a:pPr marL="0" lvl="0" indent="0" algn="l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3600" kern="1200"/>
          </a:p>
        </p:txBody>
      </p:sp>
      <p:sp>
        <p:nvSpPr>
          <p:cNvPr id="34" name="文本框 33"/>
          <p:cNvSpPr txBox="1"/>
          <p:nvPr/>
        </p:nvSpPr>
        <p:spPr>
          <a:xfrm>
            <a:off x="665043" y="328398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699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三、实现功能</a:t>
            </a:r>
            <a:r>
              <a:rPr lang="zh-CN" altLang="en-US" sz="3200" b="1" dirty="0">
                <a:solidFill>
                  <a:srgbClr val="005699"/>
                </a:solidFill>
                <a:latin typeface="微软雅黑" pitchFamily="34" charset="-122"/>
                <a:ea typeface="微软雅黑" pitchFamily="34" charset="-122"/>
              </a:rPr>
              <a:t>展示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5699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3" name="文本框 1"/>
          <p:cNvSpPr txBox="1"/>
          <p:nvPr/>
        </p:nvSpPr>
        <p:spPr>
          <a:xfrm>
            <a:off x="7568702" y="1552108"/>
            <a:ext cx="4026398" cy="540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fontAlgn="auto">
              <a:lnSpc>
                <a:spcPct val="150000"/>
              </a:lnSpc>
              <a:buFont typeface="Wingdings" charset="2"/>
              <a:buChar char="Ø"/>
            </a:pPr>
            <a:endParaRPr lang="zh-CN" altLang="en-US" sz="2200" dirty="0">
              <a:latin typeface="+mj-ea"/>
              <a:ea typeface="+mj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4DC30E7-9922-442D-9453-75BA59E2EB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3071" y="1074280"/>
            <a:ext cx="7669880" cy="581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404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54779" b="790"/>
          <a:stretch>
            <a:fillRect/>
          </a:stretch>
        </p:blipFill>
        <p:spPr>
          <a:xfrm>
            <a:off x="-12404" y="0"/>
            <a:ext cx="12192000" cy="3090046"/>
          </a:xfrm>
          <a:prstGeom prst="rect">
            <a:avLst/>
          </a:prstGeom>
        </p:spPr>
      </p:pic>
      <p:sp>
        <p:nvSpPr>
          <p:cNvPr id="15" name="椭圆 14"/>
          <p:cNvSpPr/>
          <p:nvPr/>
        </p:nvSpPr>
        <p:spPr>
          <a:xfrm>
            <a:off x="5376000" y="2466071"/>
            <a:ext cx="1440000" cy="144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842696" y="800162"/>
            <a:ext cx="8506608" cy="1446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 defTabSz="914400">
              <a:defRPr/>
            </a:pPr>
            <a:r>
              <a:rPr lang="en-US" altLang="zh-CN" sz="8800" b="1" dirty="0">
                <a:ln w="28575">
                  <a:noFill/>
                </a:ln>
                <a:solidFill>
                  <a:schemeClr val="bg1"/>
                </a:solidFill>
                <a:latin typeface="+mj-lt"/>
              </a:rPr>
              <a:t>PART  04</a:t>
            </a:r>
            <a:endParaRPr lang="zh-CN" altLang="en-US" sz="8800" b="1" dirty="0">
              <a:ln w="28575">
                <a:noFill/>
              </a:ln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33678" y="4310096"/>
            <a:ext cx="5724644" cy="83099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defTabSz="1219200">
              <a:defRPr/>
            </a:pPr>
            <a:r>
              <a:rPr lang="zh-CN" altLang="en-US" sz="4800" b="1" dirty="0">
                <a:solidFill>
                  <a:srgbClr val="002060"/>
                </a:solidFill>
                <a:latin typeface="Calibri"/>
                <a:ea typeface="微软雅黑" pitchFamily="34" charset="-122"/>
                <a:sym typeface="字魂105号-简雅黑" pitchFamily="2" charset="-122"/>
              </a:rPr>
              <a:t>项目亮点与未来规划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5545443" y="2620146"/>
            <a:ext cx="1101115" cy="1101115"/>
            <a:chOff x="5545443" y="2658566"/>
            <a:chExt cx="1101115" cy="1101115"/>
          </a:xfrm>
        </p:grpSpPr>
        <p:sp>
          <p:nvSpPr>
            <p:cNvPr id="14" name="椭圆 13"/>
            <p:cNvSpPr/>
            <p:nvPr/>
          </p:nvSpPr>
          <p:spPr>
            <a:xfrm>
              <a:off x="5545443" y="2658566"/>
              <a:ext cx="1101115" cy="1101115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4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05991" y="2819114"/>
              <a:ext cx="780018" cy="7800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: 形状 14"/>
          <p:cNvSpPr/>
          <p:nvPr/>
        </p:nvSpPr>
        <p:spPr>
          <a:xfrm>
            <a:off x="13559427" y="508452"/>
            <a:ext cx="2837162" cy="1525356"/>
          </a:xfrm>
          <a:custGeom>
            <a:avLst/>
            <a:gdLst>
              <a:gd name="connsiteX0" fmla="*/ 0 w 2241629"/>
              <a:gd name="connsiteY0" fmla="*/ 0 h 1205177"/>
              <a:gd name="connsiteX1" fmla="*/ 2241629 w 2241629"/>
              <a:gd name="connsiteY1" fmla="*/ 0 h 1205177"/>
              <a:gd name="connsiteX2" fmla="*/ 2241629 w 2241629"/>
              <a:gd name="connsiteY2" fmla="*/ 1205177 h 1205177"/>
              <a:gd name="connsiteX3" fmla="*/ 0 w 2241629"/>
              <a:gd name="connsiteY3" fmla="*/ 1205177 h 1205177"/>
              <a:gd name="connsiteX4" fmla="*/ 0 w 2241629"/>
              <a:gd name="connsiteY4" fmla="*/ 0 h 1205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1629" h="1205177">
                <a:moveTo>
                  <a:pt x="0" y="0"/>
                </a:moveTo>
                <a:lnTo>
                  <a:pt x="2241629" y="0"/>
                </a:lnTo>
                <a:lnTo>
                  <a:pt x="2241629" y="1205177"/>
                </a:lnTo>
                <a:lnTo>
                  <a:pt x="0" y="120517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7160" numCol="1" spcCol="1270" anchor="ctr" anchorCtr="0">
            <a:noAutofit/>
          </a:bodyPr>
          <a:lstStyle/>
          <a:p>
            <a:pPr marL="0" lvl="0" indent="0" algn="l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3600" kern="1200"/>
          </a:p>
        </p:txBody>
      </p:sp>
      <p:sp>
        <p:nvSpPr>
          <p:cNvPr id="34" name="文本框 33"/>
          <p:cNvSpPr txBox="1"/>
          <p:nvPr/>
        </p:nvSpPr>
        <p:spPr>
          <a:xfrm>
            <a:off x="665043" y="328398"/>
            <a:ext cx="55032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rgbClr val="005699"/>
                </a:solidFill>
                <a:latin typeface="微软雅黑" pitchFamily="34" charset="-122"/>
                <a:ea typeface="微软雅黑" pitchFamily="34" charset="-122"/>
              </a:rPr>
              <a:t>基于</a:t>
            </a:r>
            <a:r>
              <a:rPr lang="en-US" altLang="zh-CN" sz="3200" b="1" dirty="0">
                <a:solidFill>
                  <a:srgbClr val="005699"/>
                </a:solidFill>
                <a:latin typeface="微软雅黑" pitchFamily="34" charset="-122"/>
                <a:ea typeface="微软雅黑" pitchFamily="34" charset="-122"/>
              </a:rPr>
              <a:t>Intel DK-2500</a:t>
            </a:r>
            <a:r>
              <a:rPr lang="zh-CN" altLang="en-US" sz="3200" b="1" dirty="0">
                <a:solidFill>
                  <a:srgbClr val="005699"/>
                </a:solidFill>
                <a:latin typeface="微软雅黑" pitchFamily="34" charset="-122"/>
                <a:ea typeface="微软雅黑" pitchFamily="34" charset="-122"/>
              </a:rPr>
              <a:t>平台优化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5699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1" name="PA-缺角矩形 2">
            <a:extLst>
              <a:ext uri="{FF2B5EF4-FFF2-40B4-BE49-F238E27FC236}">
                <a16:creationId xmlns:a16="http://schemas.microsoft.com/office/drawing/2014/main" id="{F5502F72-A7E4-4AC0-BA91-F9481D1A4791}"/>
              </a:ext>
            </a:extLst>
          </p:cNvPr>
          <p:cNvSpPr/>
          <p:nvPr/>
        </p:nvSpPr>
        <p:spPr>
          <a:xfrm>
            <a:off x="494885" y="1480320"/>
            <a:ext cx="11202230" cy="843531"/>
          </a:xfrm>
          <a:prstGeom prst="plaque">
            <a:avLst>
              <a:gd name="adj" fmla="val 4421"/>
            </a:avLst>
          </a:prstGeom>
          <a:gradFill flip="none" rotWithShape="0">
            <a:gsLst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accent2">
                  <a:lumMod val="0"/>
                  <a:lumOff val="100000"/>
                </a:schemeClr>
              </a:gs>
            </a:gsLst>
            <a:lin ang="5400000" scaled="1"/>
            <a:tileRect/>
          </a:gradFill>
          <a:ln w="12700">
            <a:solidFill>
              <a:schemeClr val="accent1">
                <a:alpha val="80000"/>
              </a:schemeClr>
            </a:solidFill>
          </a:ln>
          <a:effectLst>
            <a:outerShdw blurRad="381000" dist="279400" dir="5400000" sx="96000" sy="96000" algn="t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gradFill flip="none" rotWithShape="1">
                <a:gsLst>
                  <a:gs pos="0">
                    <a:srgbClr val="A3561D">
                      <a:lumMod val="82000"/>
                      <a:lumOff val="18000"/>
                    </a:srgbClr>
                  </a:gs>
                  <a:gs pos="100000">
                    <a:srgbClr val="A3561D"/>
                  </a:gs>
                </a:gsLst>
                <a:lin ang="2700000" scaled="1"/>
                <a:tileRect/>
              </a:gra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2" name="内容占位符 4">
            <a:extLst>
              <a:ext uri="{FF2B5EF4-FFF2-40B4-BE49-F238E27FC236}">
                <a16:creationId xmlns:a16="http://schemas.microsoft.com/office/drawing/2014/main" id="{DB3D2C34-2A02-4185-8AC2-90AD1D825C2E}"/>
              </a:ext>
            </a:extLst>
          </p:cNvPr>
          <p:cNvSpPr txBox="1"/>
          <p:nvPr/>
        </p:nvSpPr>
        <p:spPr>
          <a:xfrm>
            <a:off x="520756" y="1625400"/>
            <a:ext cx="11183864" cy="8802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742950" indent="-285750" algn="l" rtl="0" eaLnBrk="0" fontAlgn="base" hangingPunct="0">
              <a:spcBef>
                <a:spcPts val="6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11430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6002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20574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  <a:buClr>
                <a:prstClr val="black"/>
              </a:buClr>
              <a:buFont typeface="Wingdings" panose="05000000000000000000" pitchFamily="2" charset="2"/>
              <a:buChar char="q"/>
              <a:defRPr/>
            </a:pPr>
            <a:r>
              <a:rPr lang="zh-CN" altLang="en-US" sz="1600" dirty="0">
                <a:solidFill>
                  <a:prstClr val="black"/>
                </a:solidFill>
              </a:rPr>
              <a:t>将 </a:t>
            </a:r>
            <a:r>
              <a:rPr lang="en-US" altLang="zh-CN" sz="1600" dirty="0">
                <a:solidFill>
                  <a:prstClr val="black"/>
                </a:solidFill>
              </a:rPr>
              <a:t>ODAS </a:t>
            </a:r>
            <a:r>
              <a:rPr lang="zh-CN" altLang="en-US" sz="1600" dirty="0">
                <a:solidFill>
                  <a:prstClr val="black"/>
                </a:solidFill>
              </a:rPr>
              <a:t>声源定位、</a:t>
            </a:r>
            <a:r>
              <a:rPr lang="en-US" altLang="zh-CN" sz="1600" dirty="0" err="1">
                <a:solidFill>
                  <a:prstClr val="black"/>
                </a:solidFill>
              </a:rPr>
              <a:t>BirdNET</a:t>
            </a:r>
            <a:r>
              <a:rPr lang="en-US" altLang="zh-CN" sz="1600" dirty="0">
                <a:solidFill>
                  <a:prstClr val="black"/>
                </a:solidFill>
              </a:rPr>
              <a:t> </a:t>
            </a:r>
            <a:r>
              <a:rPr lang="zh-CN" altLang="en-US" sz="1600" dirty="0">
                <a:solidFill>
                  <a:prstClr val="black"/>
                </a:solidFill>
              </a:rPr>
              <a:t>鸟鸣识别、</a:t>
            </a:r>
            <a:r>
              <a:rPr lang="en-US" altLang="zh-CN" sz="1600" dirty="0">
                <a:solidFill>
                  <a:prstClr val="black"/>
                </a:solidFill>
              </a:rPr>
              <a:t>YOLO26 </a:t>
            </a:r>
            <a:r>
              <a:rPr lang="zh-CN" altLang="en-US" sz="1600" dirty="0">
                <a:solidFill>
                  <a:prstClr val="black"/>
                </a:solidFill>
              </a:rPr>
              <a:t>图像识别及后端智能输出模块统一部署到 </a:t>
            </a:r>
            <a:r>
              <a:rPr lang="en-US" altLang="zh-CN" sz="1600" dirty="0">
                <a:solidFill>
                  <a:prstClr val="black"/>
                </a:solidFill>
              </a:rPr>
              <a:t>Intel </a:t>
            </a:r>
            <a:r>
              <a:rPr lang="zh-CN" altLang="en-US" sz="1600" dirty="0">
                <a:solidFill>
                  <a:prstClr val="black"/>
                </a:solidFill>
              </a:rPr>
              <a:t>平台，实现从“分模块验证”到“端侧一体化运行”。</a:t>
            </a: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E651EAD4-770B-45C8-AAFE-50BEB08032A7}"/>
              </a:ext>
            </a:extLst>
          </p:cNvPr>
          <p:cNvSpPr/>
          <p:nvPr/>
        </p:nvSpPr>
        <p:spPr>
          <a:xfrm rot="16200000">
            <a:off x="1735076" y="17082"/>
            <a:ext cx="341771" cy="2837162"/>
          </a:xfrm>
          <a:custGeom>
            <a:avLst/>
            <a:gdLst>
              <a:gd name="connsiteX0" fmla="*/ 311113 w 990558"/>
              <a:gd name="connsiteY0" fmla="*/ 0 h 3041291"/>
              <a:gd name="connsiteX1" fmla="*/ 679445 w 990558"/>
              <a:gd name="connsiteY1" fmla="*/ 0 h 3041291"/>
              <a:gd name="connsiteX2" fmla="*/ 860620 w 990558"/>
              <a:gd name="connsiteY2" fmla="*/ 120091 h 3041291"/>
              <a:gd name="connsiteX3" fmla="*/ 863046 w 990558"/>
              <a:gd name="connsiteY3" fmla="*/ 127905 h 3041291"/>
              <a:gd name="connsiteX4" fmla="*/ 902199 w 990558"/>
              <a:gd name="connsiteY4" fmla="*/ 135810 h 3041291"/>
              <a:gd name="connsiteX5" fmla="*/ 990558 w 990558"/>
              <a:gd name="connsiteY5" fmla="*/ 269112 h 3041291"/>
              <a:gd name="connsiteX6" fmla="*/ 990558 w 990558"/>
              <a:gd name="connsiteY6" fmla="*/ 502996 h 3041291"/>
              <a:gd name="connsiteX7" fmla="*/ 990558 w 990558"/>
              <a:gd name="connsiteY7" fmla="*/ 2448698 h 3041291"/>
              <a:gd name="connsiteX8" fmla="*/ 990558 w 990558"/>
              <a:gd name="connsiteY8" fmla="*/ 2682582 h 3041291"/>
              <a:gd name="connsiteX9" fmla="*/ 902199 w 990558"/>
              <a:gd name="connsiteY9" fmla="*/ 2815884 h 3041291"/>
              <a:gd name="connsiteX10" fmla="*/ 863046 w 990558"/>
              <a:gd name="connsiteY10" fmla="*/ 2823789 h 3041291"/>
              <a:gd name="connsiteX11" fmla="*/ 860620 w 990558"/>
              <a:gd name="connsiteY11" fmla="*/ 2831603 h 3041291"/>
              <a:gd name="connsiteX12" fmla="*/ 679445 w 990558"/>
              <a:gd name="connsiteY12" fmla="*/ 2951694 h 3041291"/>
              <a:gd name="connsiteX13" fmla="*/ 659898 w 990558"/>
              <a:gd name="connsiteY13" fmla="*/ 2951694 h 3041291"/>
              <a:gd name="connsiteX14" fmla="*/ 658318 w 990558"/>
              <a:gd name="connsiteY14" fmla="*/ 2954604 h 3041291"/>
              <a:gd name="connsiteX15" fmla="*/ 495279 w 990558"/>
              <a:gd name="connsiteY15" fmla="*/ 3041291 h 3041291"/>
              <a:gd name="connsiteX16" fmla="*/ 332240 w 990558"/>
              <a:gd name="connsiteY16" fmla="*/ 2954604 h 3041291"/>
              <a:gd name="connsiteX17" fmla="*/ 330661 w 990558"/>
              <a:gd name="connsiteY17" fmla="*/ 2951694 h 3041291"/>
              <a:gd name="connsiteX18" fmla="*/ 311113 w 990558"/>
              <a:gd name="connsiteY18" fmla="*/ 2951694 h 3041291"/>
              <a:gd name="connsiteX19" fmla="*/ 129939 w 990558"/>
              <a:gd name="connsiteY19" fmla="*/ 2831603 h 3041291"/>
              <a:gd name="connsiteX20" fmla="*/ 127512 w 990558"/>
              <a:gd name="connsiteY20" fmla="*/ 2823789 h 3041291"/>
              <a:gd name="connsiteX21" fmla="*/ 88359 w 990558"/>
              <a:gd name="connsiteY21" fmla="*/ 2815884 h 3041291"/>
              <a:gd name="connsiteX22" fmla="*/ 0 w 990558"/>
              <a:gd name="connsiteY22" fmla="*/ 2682582 h 3041291"/>
              <a:gd name="connsiteX23" fmla="*/ 0 w 990558"/>
              <a:gd name="connsiteY23" fmla="*/ 2448698 h 3041291"/>
              <a:gd name="connsiteX24" fmla="*/ 0 w 990558"/>
              <a:gd name="connsiteY24" fmla="*/ 502996 h 3041291"/>
              <a:gd name="connsiteX25" fmla="*/ 0 w 990558"/>
              <a:gd name="connsiteY25" fmla="*/ 269112 h 3041291"/>
              <a:gd name="connsiteX26" fmla="*/ 88359 w 990558"/>
              <a:gd name="connsiteY26" fmla="*/ 135810 h 3041291"/>
              <a:gd name="connsiteX27" fmla="*/ 127512 w 990558"/>
              <a:gd name="connsiteY27" fmla="*/ 127905 h 3041291"/>
              <a:gd name="connsiteX28" fmla="*/ 129939 w 990558"/>
              <a:gd name="connsiteY28" fmla="*/ 120091 h 3041291"/>
              <a:gd name="connsiteX29" fmla="*/ 311113 w 990558"/>
              <a:gd name="connsiteY29" fmla="*/ 0 h 3041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990558" h="3041291">
                <a:moveTo>
                  <a:pt x="311113" y="0"/>
                </a:moveTo>
                <a:lnTo>
                  <a:pt x="679445" y="0"/>
                </a:lnTo>
                <a:cubicBezTo>
                  <a:pt x="760890" y="0"/>
                  <a:pt x="830770" y="49518"/>
                  <a:pt x="860620" y="120091"/>
                </a:cubicBezTo>
                <a:lnTo>
                  <a:pt x="863046" y="127905"/>
                </a:lnTo>
                <a:lnTo>
                  <a:pt x="902199" y="135810"/>
                </a:lnTo>
                <a:cubicBezTo>
                  <a:pt x="954124" y="157773"/>
                  <a:pt x="990558" y="209188"/>
                  <a:pt x="990558" y="269112"/>
                </a:cubicBezTo>
                <a:lnTo>
                  <a:pt x="990558" y="502996"/>
                </a:lnTo>
                <a:lnTo>
                  <a:pt x="990558" y="2448698"/>
                </a:lnTo>
                <a:lnTo>
                  <a:pt x="990558" y="2682582"/>
                </a:lnTo>
                <a:cubicBezTo>
                  <a:pt x="990558" y="2742506"/>
                  <a:pt x="954124" y="2793922"/>
                  <a:pt x="902199" y="2815884"/>
                </a:cubicBezTo>
                <a:lnTo>
                  <a:pt x="863046" y="2823789"/>
                </a:lnTo>
                <a:lnTo>
                  <a:pt x="860620" y="2831603"/>
                </a:lnTo>
                <a:cubicBezTo>
                  <a:pt x="830770" y="2902176"/>
                  <a:pt x="760890" y="2951694"/>
                  <a:pt x="679445" y="2951694"/>
                </a:cubicBezTo>
                <a:lnTo>
                  <a:pt x="659898" y="2951694"/>
                </a:lnTo>
                <a:lnTo>
                  <a:pt x="658318" y="2954604"/>
                </a:lnTo>
                <a:cubicBezTo>
                  <a:pt x="622984" y="3006905"/>
                  <a:pt x="563147" y="3041291"/>
                  <a:pt x="495279" y="3041291"/>
                </a:cubicBezTo>
                <a:cubicBezTo>
                  <a:pt x="427411" y="3041291"/>
                  <a:pt x="367574" y="3006905"/>
                  <a:pt x="332240" y="2954604"/>
                </a:cubicBezTo>
                <a:lnTo>
                  <a:pt x="330661" y="2951694"/>
                </a:lnTo>
                <a:lnTo>
                  <a:pt x="311113" y="2951694"/>
                </a:lnTo>
                <a:cubicBezTo>
                  <a:pt x="229668" y="2951694"/>
                  <a:pt x="159788" y="2902176"/>
                  <a:pt x="129939" y="2831603"/>
                </a:cubicBezTo>
                <a:lnTo>
                  <a:pt x="127512" y="2823789"/>
                </a:lnTo>
                <a:lnTo>
                  <a:pt x="88359" y="2815884"/>
                </a:lnTo>
                <a:cubicBezTo>
                  <a:pt x="36434" y="2793922"/>
                  <a:pt x="0" y="2742506"/>
                  <a:pt x="0" y="2682582"/>
                </a:cubicBezTo>
                <a:lnTo>
                  <a:pt x="0" y="2448698"/>
                </a:lnTo>
                <a:lnTo>
                  <a:pt x="0" y="502996"/>
                </a:lnTo>
                <a:lnTo>
                  <a:pt x="0" y="269112"/>
                </a:lnTo>
                <a:cubicBezTo>
                  <a:pt x="0" y="209188"/>
                  <a:pt x="36434" y="157773"/>
                  <a:pt x="88359" y="135810"/>
                </a:cubicBezTo>
                <a:lnTo>
                  <a:pt x="127512" y="127905"/>
                </a:lnTo>
                <a:lnTo>
                  <a:pt x="129939" y="120091"/>
                </a:lnTo>
                <a:cubicBezTo>
                  <a:pt x="159788" y="49518"/>
                  <a:pt x="229668" y="0"/>
                  <a:pt x="311113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75000"/>
                </a:schemeClr>
              </a:gs>
              <a:gs pos="19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>
            <a:solidFill>
              <a:schemeClr val="accent1">
                <a:lumMod val="50000"/>
                <a:alpha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A3561D">
                      <a:lumMod val="82000"/>
                      <a:lumOff val="18000"/>
                    </a:srgbClr>
                  </a:gs>
                  <a:gs pos="100000">
                    <a:srgbClr val="A3561D"/>
                  </a:gs>
                </a:gsLst>
                <a:lin ang="2700000" scaled="1"/>
                <a:tileRect/>
              </a:gra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  <p:sp>
        <p:nvSpPr>
          <p:cNvPr id="27" name="文本框 31">
            <a:extLst>
              <a:ext uri="{FF2B5EF4-FFF2-40B4-BE49-F238E27FC236}">
                <a16:creationId xmlns:a16="http://schemas.microsoft.com/office/drawing/2014/main" id="{1DF16049-D4CB-42F0-A9F4-2F24D75F6654}"/>
              </a:ext>
            </a:extLst>
          </p:cNvPr>
          <p:cNvSpPr txBox="1"/>
          <p:nvPr/>
        </p:nvSpPr>
        <p:spPr>
          <a:xfrm>
            <a:off x="520756" y="1246751"/>
            <a:ext cx="2755513" cy="39369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5AD2"/>
              </a:buClr>
              <a:buSzPct val="100000"/>
              <a:buFontTx/>
              <a:buNone/>
              <a:defRPr/>
            </a:pPr>
            <a:r>
              <a:rPr lang="zh-CN" altLang="en-US" sz="2000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+mn-ea"/>
                <a:sym typeface="+mn-lt"/>
              </a:rPr>
              <a:t>多模块一体化边缘部署</a:t>
            </a:r>
          </a:p>
        </p:txBody>
      </p:sp>
      <p:sp>
        <p:nvSpPr>
          <p:cNvPr id="49" name="PA-缺角矩形 2">
            <a:extLst>
              <a:ext uri="{FF2B5EF4-FFF2-40B4-BE49-F238E27FC236}">
                <a16:creationId xmlns:a16="http://schemas.microsoft.com/office/drawing/2014/main" id="{D46213E2-593E-4DEF-8F19-237FCD9D0AA6}"/>
              </a:ext>
            </a:extLst>
          </p:cNvPr>
          <p:cNvSpPr/>
          <p:nvPr/>
        </p:nvSpPr>
        <p:spPr>
          <a:xfrm>
            <a:off x="502390" y="2748995"/>
            <a:ext cx="11202230" cy="843531"/>
          </a:xfrm>
          <a:prstGeom prst="plaque">
            <a:avLst>
              <a:gd name="adj" fmla="val 4421"/>
            </a:avLst>
          </a:prstGeom>
          <a:gradFill flip="none" rotWithShape="0">
            <a:gsLst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accent2">
                  <a:lumMod val="0"/>
                  <a:lumOff val="100000"/>
                </a:schemeClr>
              </a:gs>
            </a:gsLst>
            <a:lin ang="5400000" scaled="1"/>
            <a:tileRect/>
          </a:gradFill>
          <a:ln w="12700">
            <a:solidFill>
              <a:schemeClr val="accent1">
                <a:alpha val="80000"/>
              </a:schemeClr>
            </a:solidFill>
          </a:ln>
          <a:effectLst>
            <a:outerShdw blurRad="381000" dist="279400" dir="5400000" sx="96000" sy="96000" algn="t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gradFill flip="none" rotWithShape="1">
                <a:gsLst>
                  <a:gs pos="0">
                    <a:srgbClr val="A3561D">
                      <a:lumMod val="82000"/>
                      <a:lumOff val="18000"/>
                    </a:srgbClr>
                  </a:gs>
                  <a:gs pos="100000">
                    <a:srgbClr val="A3561D"/>
                  </a:gs>
                </a:gsLst>
                <a:lin ang="2700000" scaled="1"/>
                <a:tileRect/>
              </a:gra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50" name="内容占位符 4">
            <a:extLst>
              <a:ext uri="{FF2B5EF4-FFF2-40B4-BE49-F238E27FC236}">
                <a16:creationId xmlns:a16="http://schemas.microsoft.com/office/drawing/2014/main" id="{8AFB9A0E-87CC-4657-9A35-E2CE90E04690}"/>
              </a:ext>
            </a:extLst>
          </p:cNvPr>
          <p:cNvSpPr txBox="1"/>
          <p:nvPr/>
        </p:nvSpPr>
        <p:spPr>
          <a:xfrm>
            <a:off x="528261" y="2894075"/>
            <a:ext cx="11183864" cy="8802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742950" indent="-285750" algn="l" rtl="0" eaLnBrk="0" fontAlgn="base" hangingPunct="0">
              <a:spcBef>
                <a:spcPts val="6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11430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6002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20574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  <a:buClr>
                <a:prstClr val="black"/>
              </a:buClr>
              <a:buFont typeface="Wingdings" panose="05000000000000000000" pitchFamily="2" charset="2"/>
              <a:buChar char="q"/>
              <a:defRPr/>
            </a:pPr>
            <a:r>
              <a:rPr lang="zh-CN" altLang="en-US" sz="1600" dirty="0">
                <a:solidFill>
                  <a:prstClr val="black"/>
                </a:solidFill>
              </a:rPr>
              <a:t>基于 </a:t>
            </a:r>
            <a:r>
              <a:rPr lang="en-US" altLang="zh-CN" sz="1600" dirty="0">
                <a:solidFill>
                  <a:prstClr val="black"/>
                </a:solidFill>
              </a:rPr>
              <a:t>Intel </a:t>
            </a:r>
            <a:r>
              <a:rPr lang="zh-CN" altLang="en-US" sz="1600" dirty="0">
                <a:solidFill>
                  <a:prstClr val="black"/>
                </a:solidFill>
              </a:rPr>
              <a:t>平台进一步优化推理链路，降低声源定位、摄像头联动、视觉识别和结果输出之间的整体时延，提升系统实时响应能力。使用边缘开发套件和 </a:t>
            </a:r>
            <a:r>
              <a:rPr lang="en-US" altLang="zh-CN" sz="1600" dirty="0" err="1">
                <a:solidFill>
                  <a:prstClr val="black"/>
                </a:solidFill>
              </a:rPr>
              <a:t>OpenVINO</a:t>
            </a:r>
            <a:r>
              <a:rPr lang="en-US" altLang="zh-CN" sz="1600" dirty="0">
                <a:solidFill>
                  <a:prstClr val="black"/>
                </a:solidFill>
              </a:rPr>
              <a:t> </a:t>
            </a:r>
            <a:r>
              <a:rPr lang="zh-CN" altLang="en-US" sz="1600" dirty="0">
                <a:solidFill>
                  <a:prstClr val="black"/>
                </a:solidFill>
              </a:rPr>
              <a:t>加速 </a:t>
            </a:r>
            <a:r>
              <a:rPr lang="en-US" altLang="zh-CN" sz="1600" dirty="0">
                <a:solidFill>
                  <a:prstClr val="black"/>
                </a:solidFill>
              </a:rPr>
              <a:t>AI </a:t>
            </a:r>
            <a:r>
              <a:rPr lang="zh-CN" altLang="en-US" sz="1600" dirty="0">
                <a:solidFill>
                  <a:prstClr val="black"/>
                </a:solidFill>
              </a:rPr>
              <a:t>推理、优化低延迟部署。</a:t>
            </a: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4DA8910-9D5F-44C8-A936-C01029519766}"/>
              </a:ext>
            </a:extLst>
          </p:cNvPr>
          <p:cNvSpPr/>
          <p:nvPr/>
        </p:nvSpPr>
        <p:spPr>
          <a:xfrm rot="16200000">
            <a:off x="1742581" y="1285757"/>
            <a:ext cx="341771" cy="2837162"/>
          </a:xfrm>
          <a:custGeom>
            <a:avLst/>
            <a:gdLst>
              <a:gd name="connsiteX0" fmla="*/ 311113 w 990558"/>
              <a:gd name="connsiteY0" fmla="*/ 0 h 3041291"/>
              <a:gd name="connsiteX1" fmla="*/ 679445 w 990558"/>
              <a:gd name="connsiteY1" fmla="*/ 0 h 3041291"/>
              <a:gd name="connsiteX2" fmla="*/ 860620 w 990558"/>
              <a:gd name="connsiteY2" fmla="*/ 120091 h 3041291"/>
              <a:gd name="connsiteX3" fmla="*/ 863046 w 990558"/>
              <a:gd name="connsiteY3" fmla="*/ 127905 h 3041291"/>
              <a:gd name="connsiteX4" fmla="*/ 902199 w 990558"/>
              <a:gd name="connsiteY4" fmla="*/ 135810 h 3041291"/>
              <a:gd name="connsiteX5" fmla="*/ 990558 w 990558"/>
              <a:gd name="connsiteY5" fmla="*/ 269112 h 3041291"/>
              <a:gd name="connsiteX6" fmla="*/ 990558 w 990558"/>
              <a:gd name="connsiteY6" fmla="*/ 502996 h 3041291"/>
              <a:gd name="connsiteX7" fmla="*/ 990558 w 990558"/>
              <a:gd name="connsiteY7" fmla="*/ 2448698 h 3041291"/>
              <a:gd name="connsiteX8" fmla="*/ 990558 w 990558"/>
              <a:gd name="connsiteY8" fmla="*/ 2682582 h 3041291"/>
              <a:gd name="connsiteX9" fmla="*/ 902199 w 990558"/>
              <a:gd name="connsiteY9" fmla="*/ 2815884 h 3041291"/>
              <a:gd name="connsiteX10" fmla="*/ 863046 w 990558"/>
              <a:gd name="connsiteY10" fmla="*/ 2823789 h 3041291"/>
              <a:gd name="connsiteX11" fmla="*/ 860620 w 990558"/>
              <a:gd name="connsiteY11" fmla="*/ 2831603 h 3041291"/>
              <a:gd name="connsiteX12" fmla="*/ 679445 w 990558"/>
              <a:gd name="connsiteY12" fmla="*/ 2951694 h 3041291"/>
              <a:gd name="connsiteX13" fmla="*/ 659898 w 990558"/>
              <a:gd name="connsiteY13" fmla="*/ 2951694 h 3041291"/>
              <a:gd name="connsiteX14" fmla="*/ 658318 w 990558"/>
              <a:gd name="connsiteY14" fmla="*/ 2954604 h 3041291"/>
              <a:gd name="connsiteX15" fmla="*/ 495279 w 990558"/>
              <a:gd name="connsiteY15" fmla="*/ 3041291 h 3041291"/>
              <a:gd name="connsiteX16" fmla="*/ 332240 w 990558"/>
              <a:gd name="connsiteY16" fmla="*/ 2954604 h 3041291"/>
              <a:gd name="connsiteX17" fmla="*/ 330661 w 990558"/>
              <a:gd name="connsiteY17" fmla="*/ 2951694 h 3041291"/>
              <a:gd name="connsiteX18" fmla="*/ 311113 w 990558"/>
              <a:gd name="connsiteY18" fmla="*/ 2951694 h 3041291"/>
              <a:gd name="connsiteX19" fmla="*/ 129939 w 990558"/>
              <a:gd name="connsiteY19" fmla="*/ 2831603 h 3041291"/>
              <a:gd name="connsiteX20" fmla="*/ 127512 w 990558"/>
              <a:gd name="connsiteY20" fmla="*/ 2823789 h 3041291"/>
              <a:gd name="connsiteX21" fmla="*/ 88359 w 990558"/>
              <a:gd name="connsiteY21" fmla="*/ 2815884 h 3041291"/>
              <a:gd name="connsiteX22" fmla="*/ 0 w 990558"/>
              <a:gd name="connsiteY22" fmla="*/ 2682582 h 3041291"/>
              <a:gd name="connsiteX23" fmla="*/ 0 w 990558"/>
              <a:gd name="connsiteY23" fmla="*/ 2448698 h 3041291"/>
              <a:gd name="connsiteX24" fmla="*/ 0 w 990558"/>
              <a:gd name="connsiteY24" fmla="*/ 502996 h 3041291"/>
              <a:gd name="connsiteX25" fmla="*/ 0 w 990558"/>
              <a:gd name="connsiteY25" fmla="*/ 269112 h 3041291"/>
              <a:gd name="connsiteX26" fmla="*/ 88359 w 990558"/>
              <a:gd name="connsiteY26" fmla="*/ 135810 h 3041291"/>
              <a:gd name="connsiteX27" fmla="*/ 127512 w 990558"/>
              <a:gd name="connsiteY27" fmla="*/ 127905 h 3041291"/>
              <a:gd name="connsiteX28" fmla="*/ 129939 w 990558"/>
              <a:gd name="connsiteY28" fmla="*/ 120091 h 3041291"/>
              <a:gd name="connsiteX29" fmla="*/ 311113 w 990558"/>
              <a:gd name="connsiteY29" fmla="*/ 0 h 3041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990558" h="3041291">
                <a:moveTo>
                  <a:pt x="311113" y="0"/>
                </a:moveTo>
                <a:lnTo>
                  <a:pt x="679445" y="0"/>
                </a:lnTo>
                <a:cubicBezTo>
                  <a:pt x="760890" y="0"/>
                  <a:pt x="830770" y="49518"/>
                  <a:pt x="860620" y="120091"/>
                </a:cubicBezTo>
                <a:lnTo>
                  <a:pt x="863046" y="127905"/>
                </a:lnTo>
                <a:lnTo>
                  <a:pt x="902199" y="135810"/>
                </a:lnTo>
                <a:cubicBezTo>
                  <a:pt x="954124" y="157773"/>
                  <a:pt x="990558" y="209188"/>
                  <a:pt x="990558" y="269112"/>
                </a:cubicBezTo>
                <a:lnTo>
                  <a:pt x="990558" y="502996"/>
                </a:lnTo>
                <a:lnTo>
                  <a:pt x="990558" y="2448698"/>
                </a:lnTo>
                <a:lnTo>
                  <a:pt x="990558" y="2682582"/>
                </a:lnTo>
                <a:cubicBezTo>
                  <a:pt x="990558" y="2742506"/>
                  <a:pt x="954124" y="2793922"/>
                  <a:pt x="902199" y="2815884"/>
                </a:cubicBezTo>
                <a:lnTo>
                  <a:pt x="863046" y="2823789"/>
                </a:lnTo>
                <a:lnTo>
                  <a:pt x="860620" y="2831603"/>
                </a:lnTo>
                <a:cubicBezTo>
                  <a:pt x="830770" y="2902176"/>
                  <a:pt x="760890" y="2951694"/>
                  <a:pt x="679445" y="2951694"/>
                </a:cubicBezTo>
                <a:lnTo>
                  <a:pt x="659898" y="2951694"/>
                </a:lnTo>
                <a:lnTo>
                  <a:pt x="658318" y="2954604"/>
                </a:lnTo>
                <a:cubicBezTo>
                  <a:pt x="622984" y="3006905"/>
                  <a:pt x="563147" y="3041291"/>
                  <a:pt x="495279" y="3041291"/>
                </a:cubicBezTo>
                <a:cubicBezTo>
                  <a:pt x="427411" y="3041291"/>
                  <a:pt x="367574" y="3006905"/>
                  <a:pt x="332240" y="2954604"/>
                </a:cubicBezTo>
                <a:lnTo>
                  <a:pt x="330661" y="2951694"/>
                </a:lnTo>
                <a:lnTo>
                  <a:pt x="311113" y="2951694"/>
                </a:lnTo>
                <a:cubicBezTo>
                  <a:pt x="229668" y="2951694"/>
                  <a:pt x="159788" y="2902176"/>
                  <a:pt x="129939" y="2831603"/>
                </a:cubicBezTo>
                <a:lnTo>
                  <a:pt x="127512" y="2823789"/>
                </a:lnTo>
                <a:lnTo>
                  <a:pt x="88359" y="2815884"/>
                </a:lnTo>
                <a:cubicBezTo>
                  <a:pt x="36434" y="2793922"/>
                  <a:pt x="0" y="2742506"/>
                  <a:pt x="0" y="2682582"/>
                </a:cubicBezTo>
                <a:lnTo>
                  <a:pt x="0" y="2448698"/>
                </a:lnTo>
                <a:lnTo>
                  <a:pt x="0" y="502996"/>
                </a:lnTo>
                <a:lnTo>
                  <a:pt x="0" y="269112"/>
                </a:lnTo>
                <a:cubicBezTo>
                  <a:pt x="0" y="209188"/>
                  <a:pt x="36434" y="157773"/>
                  <a:pt x="88359" y="135810"/>
                </a:cubicBezTo>
                <a:lnTo>
                  <a:pt x="127512" y="127905"/>
                </a:lnTo>
                <a:lnTo>
                  <a:pt x="129939" y="120091"/>
                </a:lnTo>
                <a:cubicBezTo>
                  <a:pt x="159788" y="49518"/>
                  <a:pt x="229668" y="0"/>
                  <a:pt x="311113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75000"/>
                </a:schemeClr>
              </a:gs>
              <a:gs pos="19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>
            <a:solidFill>
              <a:schemeClr val="accent1">
                <a:lumMod val="50000"/>
                <a:alpha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A3561D">
                      <a:lumMod val="82000"/>
                      <a:lumOff val="18000"/>
                    </a:srgbClr>
                  </a:gs>
                  <a:gs pos="100000">
                    <a:srgbClr val="A3561D"/>
                  </a:gs>
                </a:gsLst>
                <a:lin ang="2700000" scaled="1"/>
                <a:tileRect/>
              </a:gra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  <p:sp>
        <p:nvSpPr>
          <p:cNvPr id="52" name="文本框 31">
            <a:extLst>
              <a:ext uri="{FF2B5EF4-FFF2-40B4-BE49-F238E27FC236}">
                <a16:creationId xmlns:a16="http://schemas.microsoft.com/office/drawing/2014/main" id="{EA8B45F4-F1CC-4C8F-86D4-8D356DF5400E}"/>
              </a:ext>
            </a:extLst>
          </p:cNvPr>
          <p:cNvSpPr txBox="1"/>
          <p:nvPr/>
        </p:nvSpPr>
        <p:spPr>
          <a:xfrm>
            <a:off x="602406" y="2531050"/>
            <a:ext cx="2622119" cy="39369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5AD2"/>
              </a:buClr>
              <a:buSzPct val="100000"/>
              <a:buFontTx/>
              <a:buNone/>
              <a:defRPr/>
            </a:pPr>
            <a:r>
              <a:rPr lang="zh-CN" altLang="en-US" sz="2000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+mn-ea"/>
                <a:sym typeface="+mn-lt"/>
              </a:rPr>
              <a:t>端到端实时性优化</a:t>
            </a:r>
          </a:p>
        </p:txBody>
      </p:sp>
      <p:sp>
        <p:nvSpPr>
          <p:cNvPr id="53" name="PA-缺角矩形 2">
            <a:extLst>
              <a:ext uri="{FF2B5EF4-FFF2-40B4-BE49-F238E27FC236}">
                <a16:creationId xmlns:a16="http://schemas.microsoft.com/office/drawing/2014/main" id="{D9688158-1CAE-4D7E-AB68-A63BFE0EB928}"/>
              </a:ext>
            </a:extLst>
          </p:cNvPr>
          <p:cNvSpPr/>
          <p:nvPr/>
        </p:nvSpPr>
        <p:spPr>
          <a:xfrm>
            <a:off x="509895" y="4091902"/>
            <a:ext cx="11202230" cy="843531"/>
          </a:xfrm>
          <a:prstGeom prst="plaque">
            <a:avLst>
              <a:gd name="adj" fmla="val 4421"/>
            </a:avLst>
          </a:prstGeom>
          <a:gradFill flip="none" rotWithShape="0">
            <a:gsLst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accent2">
                  <a:lumMod val="0"/>
                  <a:lumOff val="100000"/>
                </a:schemeClr>
              </a:gs>
            </a:gsLst>
            <a:lin ang="5400000" scaled="1"/>
            <a:tileRect/>
          </a:gradFill>
          <a:ln w="12700">
            <a:solidFill>
              <a:schemeClr val="accent1">
                <a:alpha val="80000"/>
              </a:schemeClr>
            </a:solidFill>
          </a:ln>
          <a:effectLst>
            <a:outerShdw blurRad="381000" dist="279400" dir="5400000" sx="96000" sy="96000" algn="t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gradFill flip="none" rotWithShape="1">
                <a:gsLst>
                  <a:gs pos="0">
                    <a:srgbClr val="A3561D">
                      <a:lumMod val="82000"/>
                      <a:lumOff val="18000"/>
                    </a:srgbClr>
                  </a:gs>
                  <a:gs pos="100000">
                    <a:srgbClr val="A3561D"/>
                  </a:gs>
                </a:gsLst>
                <a:lin ang="2700000" scaled="1"/>
                <a:tileRect/>
              </a:gra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54" name="内容占位符 4">
            <a:extLst>
              <a:ext uri="{FF2B5EF4-FFF2-40B4-BE49-F238E27FC236}">
                <a16:creationId xmlns:a16="http://schemas.microsoft.com/office/drawing/2014/main" id="{7BE861A4-E855-467E-8774-B5AB2EE210FF}"/>
              </a:ext>
            </a:extLst>
          </p:cNvPr>
          <p:cNvSpPr txBox="1"/>
          <p:nvPr/>
        </p:nvSpPr>
        <p:spPr>
          <a:xfrm>
            <a:off x="535766" y="4236982"/>
            <a:ext cx="11183864" cy="8802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742950" indent="-285750" algn="l" rtl="0" eaLnBrk="0" fontAlgn="base" hangingPunct="0">
              <a:spcBef>
                <a:spcPts val="6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11430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6002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20574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  <a:buClr>
                <a:prstClr val="black"/>
              </a:buClr>
              <a:buFont typeface="Wingdings" panose="05000000000000000000" pitchFamily="2" charset="2"/>
              <a:buChar char="q"/>
              <a:defRPr/>
            </a:pPr>
            <a:r>
              <a:rPr lang="zh-CN" altLang="en-US" sz="1600" dirty="0">
                <a:solidFill>
                  <a:prstClr val="black"/>
                </a:solidFill>
              </a:rPr>
              <a:t>针对远距离、环境噪声、遮挡、弱目标、户外供电、恶劣环境等问题，继续优化系统在野外场景下的识别精度与运行稳定性。</a:t>
            </a:r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83FC1C6E-1FB0-4303-91AF-4756E0F4A40C}"/>
              </a:ext>
            </a:extLst>
          </p:cNvPr>
          <p:cNvSpPr/>
          <p:nvPr/>
        </p:nvSpPr>
        <p:spPr>
          <a:xfrm rot="16200000">
            <a:off x="1750086" y="2628664"/>
            <a:ext cx="341771" cy="2837162"/>
          </a:xfrm>
          <a:custGeom>
            <a:avLst/>
            <a:gdLst>
              <a:gd name="connsiteX0" fmla="*/ 311113 w 990558"/>
              <a:gd name="connsiteY0" fmla="*/ 0 h 3041291"/>
              <a:gd name="connsiteX1" fmla="*/ 679445 w 990558"/>
              <a:gd name="connsiteY1" fmla="*/ 0 h 3041291"/>
              <a:gd name="connsiteX2" fmla="*/ 860620 w 990558"/>
              <a:gd name="connsiteY2" fmla="*/ 120091 h 3041291"/>
              <a:gd name="connsiteX3" fmla="*/ 863046 w 990558"/>
              <a:gd name="connsiteY3" fmla="*/ 127905 h 3041291"/>
              <a:gd name="connsiteX4" fmla="*/ 902199 w 990558"/>
              <a:gd name="connsiteY4" fmla="*/ 135810 h 3041291"/>
              <a:gd name="connsiteX5" fmla="*/ 990558 w 990558"/>
              <a:gd name="connsiteY5" fmla="*/ 269112 h 3041291"/>
              <a:gd name="connsiteX6" fmla="*/ 990558 w 990558"/>
              <a:gd name="connsiteY6" fmla="*/ 502996 h 3041291"/>
              <a:gd name="connsiteX7" fmla="*/ 990558 w 990558"/>
              <a:gd name="connsiteY7" fmla="*/ 2448698 h 3041291"/>
              <a:gd name="connsiteX8" fmla="*/ 990558 w 990558"/>
              <a:gd name="connsiteY8" fmla="*/ 2682582 h 3041291"/>
              <a:gd name="connsiteX9" fmla="*/ 902199 w 990558"/>
              <a:gd name="connsiteY9" fmla="*/ 2815884 h 3041291"/>
              <a:gd name="connsiteX10" fmla="*/ 863046 w 990558"/>
              <a:gd name="connsiteY10" fmla="*/ 2823789 h 3041291"/>
              <a:gd name="connsiteX11" fmla="*/ 860620 w 990558"/>
              <a:gd name="connsiteY11" fmla="*/ 2831603 h 3041291"/>
              <a:gd name="connsiteX12" fmla="*/ 679445 w 990558"/>
              <a:gd name="connsiteY12" fmla="*/ 2951694 h 3041291"/>
              <a:gd name="connsiteX13" fmla="*/ 659898 w 990558"/>
              <a:gd name="connsiteY13" fmla="*/ 2951694 h 3041291"/>
              <a:gd name="connsiteX14" fmla="*/ 658318 w 990558"/>
              <a:gd name="connsiteY14" fmla="*/ 2954604 h 3041291"/>
              <a:gd name="connsiteX15" fmla="*/ 495279 w 990558"/>
              <a:gd name="connsiteY15" fmla="*/ 3041291 h 3041291"/>
              <a:gd name="connsiteX16" fmla="*/ 332240 w 990558"/>
              <a:gd name="connsiteY16" fmla="*/ 2954604 h 3041291"/>
              <a:gd name="connsiteX17" fmla="*/ 330661 w 990558"/>
              <a:gd name="connsiteY17" fmla="*/ 2951694 h 3041291"/>
              <a:gd name="connsiteX18" fmla="*/ 311113 w 990558"/>
              <a:gd name="connsiteY18" fmla="*/ 2951694 h 3041291"/>
              <a:gd name="connsiteX19" fmla="*/ 129939 w 990558"/>
              <a:gd name="connsiteY19" fmla="*/ 2831603 h 3041291"/>
              <a:gd name="connsiteX20" fmla="*/ 127512 w 990558"/>
              <a:gd name="connsiteY20" fmla="*/ 2823789 h 3041291"/>
              <a:gd name="connsiteX21" fmla="*/ 88359 w 990558"/>
              <a:gd name="connsiteY21" fmla="*/ 2815884 h 3041291"/>
              <a:gd name="connsiteX22" fmla="*/ 0 w 990558"/>
              <a:gd name="connsiteY22" fmla="*/ 2682582 h 3041291"/>
              <a:gd name="connsiteX23" fmla="*/ 0 w 990558"/>
              <a:gd name="connsiteY23" fmla="*/ 2448698 h 3041291"/>
              <a:gd name="connsiteX24" fmla="*/ 0 w 990558"/>
              <a:gd name="connsiteY24" fmla="*/ 502996 h 3041291"/>
              <a:gd name="connsiteX25" fmla="*/ 0 w 990558"/>
              <a:gd name="connsiteY25" fmla="*/ 269112 h 3041291"/>
              <a:gd name="connsiteX26" fmla="*/ 88359 w 990558"/>
              <a:gd name="connsiteY26" fmla="*/ 135810 h 3041291"/>
              <a:gd name="connsiteX27" fmla="*/ 127512 w 990558"/>
              <a:gd name="connsiteY27" fmla="*/ 127905 h 3041291"/>
              <a:gd name="connsiteX28" fmla="*/ 129939 w 990558"/>
              <a:gd name="connsiteY28" fmla="*/ 120091 h 3041291"/>
              <a:gd name="connsiteX29" fmla="*/ 311113 w 990558"/>
              <a:gd name="connsiteY29" fmla="*/ 0 h 3041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990558" h="3041291">
                <a:moveTo>
                  <a:pt x="311113" y="0"/>
                </a:moveTo>
                <a:lnTo>
                  <a:pt x="679445" y="0"/>
                </a:lnTo>
                <a:cubicBezTo>
                  <a:pt x="760890" y="0"/>
                  <a:pt x="830770" y="49518"/>
                  <a:pt x="860620" y="120091"/>
                </a:cubicBezTo>
                <a:lnTo>
                  <a:pt x="863046" y="127905"/>
                </a:lnTo>
                <a:lnTo>
                  <a:pt x="902199" y="135810"/>
                </a:lnTo>
                <a:cubicBezTo>
                  <a:pt x="954124" y="157773"/>
                  <a:pt x="990558" y="209188"/>
                  <a:pt x="990558" y="269112"/>
                </a:cubicBezTo>
                <a:lnTo>
                  <a:pt x="990558" y="502996"/>
                </a:lnTo>
                <a:lnTo>
                  <a:pt x="990558" y="2448698"/>
                </a:lnTo>
                <a:lnTo>
                  <a:pt x="990558" y="2682582"/>
                </a:lnTo>
                <a:cubicBezTo>
                  <a:pt x="990558" y="2742506"/>
                  <a:pt x="954124" y="2793922"/>
                  <a:pt x="902199" y="2815884"/>
                </a:cubicBezTo>
                <a:lnTo>
                  <a:pt x="863046" y="2823789"/>
                </a:lnTo>
                <a:lnTo>
                  <a:pt x="860620" y="2831603"/>
                </a:lnTo>
                <a:cubicBezTo>
                  <a:pt x="830770" y="2902176"/>
                  <a:pt x="760890" y="2951694"/>
                  <a:pt x="679445" y="2951694"/>
                </a:cubicBezTo>
                <a:lnTo>
                  <a:pt x="659898" y="2951694"/>
                </a:lnTo>
                <a:lnTo>
                  <a:pt x="658318" y="2954604"/>
                </a:lnTo>
                <a:cubicBezTo>
                  <a:pt x="622984" y="3006905"/>
                  <a:pt x="563147" y="3041291"/>
                  <a:pt x="495279" y="3041291"/>
                </a:cubicBezTo>
                <a:cubicBezTo>
                  <a:pt x="427411" y="3041291"/>
                  <a:pt x="367574" y="3006905"/>
                  <a:pt x="332240" y="2954604"/>
                </a:cubicBezTo>
                <a:lnTo>
                  <a:pt x="330661" y="2951694"/>
                </a:lnTo>
                <a:lnTo>
                  <a:pt x="311113" y="2951694"/>
                </a:lnTo>
                <a:cubicBezTo>
                  <a:pt x="229668" y="2951694"/>
                  <a:pt x="159788" y="2902176"/>
                  <a:pt x="129939" y="2831603"/>
                </a:cubicBezTo>
                <a:lnTo>
                  <a:pt x="127512" y="2823789"/>
                </a:lnTo>
                <a:lnTo>
                  <a:pt x="88359" y="2815884"/>
                </a:lnTo>
                <a:cubicBezTo>
                  <a:pt x="36434" y="2793922"/>
                  <a:pt x="0" y="2742506"/>
                  <a:pt x="0" y="2682582"/>
                </a:cubicBezTo>
                <a:lnTo>
                  <a:pt x="0" y="2448698"/>
                </a:lnTo>
                <a:lnTo>
                  <a:pt x="0" y="502996"/>
                </a:lnTo>
                <a:lnTo>
                  <a:pt x="0" y="269112"/>
                </a:lnTo>
                <a:cubicBezTo>
                  <a:pt x="0" y="209188"/>
                  <a:pt x="36434" y="157773"/>
                  <a:pt x="88359" y="135810"/>
                </a:cubicBezTo>
                <a:lnTo>
                  <a:pt x="127512" y="127905"/>
                </a:lnTo>
                <a:lnTo>
                  <a:pt x="129939" y="120091"/>
                </a:lnTo>
                <a:cubicBezTo>
                  <a:pt x="159788" y="49518"/>
                  <a:pt x="229668" y="0"/>
                  <a:pt x="311113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75000"/>
                </a:schemeClr>
              </a:gs>
              <a:gs pos="19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>
            <a:solidFill>
              <a:schemeClr val="accent1">
                <a:lumMod val="50000"/>
                <a:alpha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A3561D">
                      <a:lumMod val="82000"/>
                      <a:lumOff val="18000"/>
                    </a:srgbClr>
                  </a:gs>
                  <a:gs pos="100000">
                    <a:srgbClr val="A3561D"/>
                  </a:gs>
                </a:gsLst>
                <a:lin ang="2700000" scaled="1"/>
                <a:tileRect/>
              </a:gra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  <p:sp>
        <p:nvSpPr>
          <p:cNvPr id="56" name="文本框 31">
            <a:extLst>
              <a:ext uri="{FF2B5EF4-FFF2-40B4-BE49-F238E27FC236}">
                <a16:creationId xmlns:a16="http://schemas.microsoft.com/office/drawing/2014/main" id="{EC321031-4673-4F8E-B66B-E6D657FC6162}"/>
              </a:ext>
            </a:extLst>
          </p:cNvPr>
          <p:cNvSpPr txBox="1"/>
          <p:nvPr/>
        </p:nvSpPr>
        <p:spPr>
          <a:xfrm>
            <a:off x="609911" y="3873957"/>
            <a:ext cx="2622119" cy="39369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5AD2"/>
              </a:buClr>
              <a:buSzPct val="100000"/>
              <a:buFontTx/>
              <a:buNone/>
              <a:defRPr/>
            </a:pPr>
            <a:r>
              <a:rPr lang="zh-CN" altLang="en-US" sz="2000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+mn-ea"/>
                <a:sym typeface="+mn-lt"/>
              </a:rPr>
              <a:t>复杂环境鲁棒性提升</a:t>
            </a:r>
          </a:p>
        </p:txBody>
      </p:sp>
      <p:sp>
        <p:nvSpPr>
          <p:cNvPr id="57" name="PA-缺角矩形 2">
            <a:extLst>
              <a:ext uri="{FF2B5EF4-FFF2-40B4-BE49-F238E27FC236}">
                <a16:creationId xmlns:a16="http://schemas.microsoft.com/office/drawing/2014/main" id="{814D6168-4FE7-4A44-B18F-FBB3ADE29EA2}"/>
              </a:ext>
            </a:extLst>
          </p:cNvPr>
          <p:cNvSpPr/>
          <p:nvPr/>
        </p:nvSpPr>
        <p:spPr>
          <a:xfrm>
            <a:off x="494885" y="5504272"/>
            <a:ext cx="11202230" cy="843531"/>
          </a:xfrm>
          <a:prstGeom prst="plaque">
            <a:avLst>
              <a:gd name="adj" fmla="val 4421"/>
            </a:avLst>
          </a:prstGeom>
          <a:gradFill flip="none" rotWithShape="0">
            <a:gsLst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accent2">
                  <a:lumMod val="0"/>
                  <a:lumOff val="100000"/>
                </a:schemeClr>
              </a:gs>
            </a:gsLst>
            <a:lin ang="5400000" scaled="1"/>
            <a:tileRect/>
          </a:gradFill>
          <a:ln w="12700">
            <a:solidFill>
              <a:schemeClr val="accent1">
                <a:alpha val="80000"/>
              </a:schemeClr>
            </a:solidFill>
          </a:ln>
          <a:effectLst>
            <a:outerShdw blurRad="381000" dist="279400" dir="5400000" sx="96000" sy="96000" algn="t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gradFill flip="none" rotWithShape="1">
                <a:gsLst>
                  <a:gs pos="0">
                    <a:srgbClr val="A3561D">
                      <a:lumMod val="82000"/>
                      <a:lumOff val="18000"/>
                    </a:srgbClr>
                  </a:gs>
                  <a:gs pos="100000">
                    <a:srgbClr val="A3561D"/>
                  </a:gs>
                </a:gsLst>
                <a:lin ang="2700000" scaled="1"/>
                <a:tileRect/>
              </a:gra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58" name="内容占位符 4">
            <a:extLst>
              <a:ext uri="{FF2B5EF4-FFF2-40B4-BE49-F238E27FC236}">
                <a16:creationId xmlns:a16="http://schemas.microsoft.com/office/drawing/2014/main" id="{DAF28FFC-6F38-4743-974F-C49AA2D3E454}"/>
              </a:ext>
            </a:extLst>
          </p:cNvPr>
          <p:cNvSpPr txBox="1"/>
          <p:nvPr/>
        </p:nvSpPr>
        <p:spPr>
          <a:xfrm>
            <a:off x="520756" y="5649352"/>
            <a:ext cx="11183864" cy="8802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742950" indent="-285750" algn="l" rtl="0" eaLnBrk="0" fontAlgn="base" hangingPunct="0">
              <a:spcBef>
                <a:spcPts val="6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11430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6002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20574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  <a:buClr>
                <a:prstClr val="black"/>
              </a:buClr>
              <a:buFont typeface="Wingdings" panose="05000000000000000000" pitchFamily="2" charset="2"/>
              <a:buChar char="q"/>
              <a:defRPr/>
            </a:pPr>
            <a:r>
              <a:rPr lang="zh-CN" altLang="en-US" sz="1600" dirty="0">
                <a:solidFill>
                  <a:prstClr val="black"/>
                </a:solidFill>
              </a:rPr>
              <a:t>结合 </a:t>
            </a:r>
            <a:r>
              <a:rPr lang="en-US" altLang="zh-CN" sz="1600" dirty="0">
                <a:solidFill>
                  <a:prstClr val="black"/>
                </a:solidFill>
              </a:rPr>
              <a:t>Intel </a:t>
            </a:r>
            <a:r>
              <a:rPr lang="zh-CN" altLang="en-US" sz="1600" dirty="0">
                <a:solidFill>
                  <a:prstClr val="black"/>
                </a:solidFill>
              </a:rPr>
              <a:t>平台开展模型压缩、资源调度、功耗控制和长时间运行测试，推动系统向实际部署方向进一步靠近。</a:t>
            </a: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A080336C-3061-4D2E-8D67-6445ED465C18}"/>
              </a:ext>
            </a:extLst>
          </p:cNvPr>
          <p:cNvSpPr/>
          <p:nvPr/>
        </p:nvSpPr>
        <p:spPr>
          <a:xfrm rot="16200000">
            <a:off x="1735076" y="4041034"/>
            <a:ext cx="341771" cy="2837162"/>
          </a:xfrm>
          <a:custGeom>
            <a:avLst/>
            <a:gdLst>
              <a:gd name="connsiteX0" fmla="*/ 311113 w 990558"/>
              <a:gd name="connsiteY0" fmla="*/ 0 h 3041291"/>
              <a:gd name="connsiteX1" fmla="*/ 679445 w 990558"/>
              <a:gd name="connsiteY1" fmla="*/ 0 h 3041291"/>
              <a:gd name="connsiteX2" fmla="*/ 860620 w 990558"/>
              <a:gd name="connsiteY2" fmla="*/ 120091 h 3041291"/>
              <a:gd name="connsiteX3" fmla="*/ 863046 w 990558"/>
              <a:gd name="connsiteY3" fmla="*/ 127905 h 3041291"/>
              <a:gd name="connsiteX4" fmla="*/ 902199 w 990558"/>
              <a:gd name="connsiteY4" fmla="*/ 135810 h 3041291"/>
              <a:gd name="connsiteX5" fmla="*/ 990558 w 990558"/>
              <a:gd name="connsiteY5" fmla="*/ 269112 h 3041291"/>
              <a:gd name="connsiteX6" fmla="*/ 990558 w 990558"/>
              <a:gd name="connsiteY6" fmla="*/ 502996 h 3041291"/>
              <a:gd name="connsiteX7" fmla="*/ 990558 w 990558"/>
              <a:gd name="connsiteY7" fmla="*/ 2448698 h 3041291"/>
              <a:gd name="connsiteX8" fmla="*/ 990558 w 990558"/>
              <a:gd name="connsiteY8" fmla="*/ 2682582 h 3041291"/>
              <a:gd name="connsiteX9" fmla="*/ 902199 w 990558"/>
              <a:gd name="connsiteY9" fmla="*/ 2815884 h 3041291"/>
              <a:gd name="connsiteX10" fmla="*/ 863046 w 990558"/>
              <a:gd name="connsiteY10" fmla="*/ 2823789 h 3041291"/>
              <a:gd name="connsiteX11" fmla="*/ 860620 w 990558"/>
              <a:gd name="connsiteY11" fmla="*/ 2831603 h 3041291"/>
              <a:gd name="connsiteX12" fmla="*/ 679445 w 990558"/>
              <a:gd name="connsiteY12" fmla="*/ 2951694 h 3041291"/>
              <a:gd name="connsiteX13" fmla="*/ 659898 w 990558"/>
              <a:gd name="connsiteY13" fmla="*/ 2951694 h 3041291"/>
              <a:gd name="connsiteX14" fmla="*/ 658318 w 990558"/>
              <a:gd name="connsiteY14" fmla="*/ 2954604 h 3041291"/>
              <a:gd name="connsiteX15" fmla="*/ 495279 w 990558"/>
              <a:gd name="connsiteY15" fmla="*/ 3041291 h 3041291"/>
              <a:gd name="connsiteX16" fmla="*/ 332240 w 990558"/>
              <a:gd name="connsiteY16" fmla="*/ 2954604 h 3041291"/>
              <a:gd name="connsiteX17" fmla="*/ 330661 w 990558"/>
              <a:gd name="connsiteY17" fmla="*/ 2951694 h 3041291"/>
              <a:gd name="connsiteX18" fmla="*/ 311113 w 990558"/>
              <a:gd name="connsiteY18" fmla="*/ 2951694 h 3041291"/>
              <a:gd name="connsiteX19" fmla="*/ 129939 w 990558"/>
              <a:gd name="connsiteY19" fmla="*/ 2831603 h 3041291"/>
              <a:gd name="connsiteX20" fmla="*/ 127512 w 990558"/>
              <a:gd name="connsiteY20" fmla="*/ 2823789 h 3041291"/>
              <a:gd name="connsiteX21" fmla="*/ 88359 w 990558"/>
              <a:gd name="connsiteY21" fmla="*/ 2815884 h 3041291"/>
              <a:gd name="connsiteX22" fmla="*/ 0 w 990558"/>
              <a:gd name="connsiteY22" fmla="*/ 2682582 h 3041291"/>
              <a:gd name="connsiteX23" fmla="*/ 0 w 990558"/>
              <a:gd name="connsiteY23" fmla="*/ 2448698 h 3041291"/>
              <a:gd name="connsiteX24" fmla="*/ 0 w 990558"/>
              <a:gd name="connsiteY24" fmla="*/ 502996 h 3041291"/>
              <a:gd name="connsiteX25" fmla="*/ 0 w 990558"/>
              <a:gd name="connsiteY25" fmla="*/ 269112 h 3041291"/>
              <a:gd name="connsiteX26" fmla="*/ 88359 w 990558"/>
              <a:gd name="connsiteY26" fmla="*/ 135810 h 3041291"/>
              <a:gd name="connsiteX27" fmla="*/ 127512 w 990558"/>
              <a:gd name="connsiteY27" fmla="*/ 127905 h 3041291"/>
              <a:gd name="connsiteX28" fmla="*/ 129939 w 990558"/>
              <a:gd name="connsiteY28" fmla="*/ 120091 h 3041291"/>
              <a:gd name="connsiteX29" fmla="*/ 311113 w 990558"/>
              <a:gd name="connsiteY29" fmla="*/ 0 h 3041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990558" h="3041291">
                <a:moveTo>
                  <a:pt x="311113" y="0"/>
                </a:moveTo>
                <a:lnTo>
                  <a:pt x="679445" y="0"/>
                </a:lnTo>
                <a:cubicBezTo>
                  <a:pt x="760890" y="0"/>
                  <a:pt x="830770" y="49518"/>
                  <a:pt x="860620" y="120091"/>
                </a:cubicBezTo>
                <a:lnTo>
                  <a:pt x="863046" y="127905"/>
                </a:lnTo>
                <a:lnTo>
                  <a:pt x="902199" y="135810"/>
                </a:lnTo>
                <a:cubicBezTo>
                  <a:pt x="954124" y="157773"/>
                  <a:pt x="990558" y="209188"/>
                  <a:pt x="990558" y="269112"/>
                </a:cubicBezTo>
                <a:lnTo>
                  <a:pt x="990558" y="502996"/>
                </a:lnTo>
                <a:lnTo>
                  <a:pt x="990558" y="2448698"/>
                </a:lnTo>
                <a:lnTo>
                  <a:pt x="990558" y="2682582"/>
                </a:lnTo>
                <a:cubicBezTo>
                  <a:pt x="990558" y="2742506"/>
                  <a:pt x="954124" y="2793922"/>
                  <a:pt x="902199" y="2815884"/>
                </a:cubicBezTo>
                <a:lnTo>
                  <a:pt x="863046" y="2823789"/>
                </a:lnTo>
                <a:lnTo>
                  <a:pt x="860620" y="2831603"/>
                </a:lnTo>
                <a:cubicBezTo>
                  <a:pt x="830770" y="2902176"/>
                  <a:pt x="760890" y="2951694"/>
                  <a:pt x="679445" y="2951694"/>
                </a:cubicBezTo>
                <a:lnTo>
                  <a:pt x="659898" y="2951694"/>
                </a:lnTo>
                <a:lnTo>
                  <a:pt x="658318" y="2954604"/>
                </a:lnTo>
                <a:cubicBezTo>
                  <a:pt x="622984" y="3006905"/>
                  <a:pt x="563147" y="3041291"/>
                  <a:pt x="495279" y="3041291"/>
                </a:cubicBezTo>
                <a:cubicBezTo>
                  <a:pt x="427411" y="3041291"/>
                  <a:pt x="367574" y="3006905"/>
                  <a:pt x="332240" y="2954604"/>
                </a:cubicBezTo>
                <a:lnTo>
                  <a:pt x="330661" y="2951694"/>
                </a:lnTo>
                <a:lnTo>
                  <a:pt x="311113" y="2951694"/>
                </a:lnTo>
                <a:cubicBezTo>
                  <a:pt x="229668" y="2951694"/>
                  <a:pt x="159788" y="2902176"/>
                  <a:pt x="129939" y="2831603"/>
                </a:cubicBezTo>
                <a:lnTo>
                  <a:pt x="127512" y="2823789"/>
                </a:lnTo>
                <a:lnTo>
                  <a:pt x="88359" y="2815884"/>
                </a:lnTo>
                <a:cubicBezTo>
                  <a:pt x="36434" y="2793922"/>
                  <a:pt x="0" y="2742506"/>
                  <a:pt x="0" y="2682582"/>
                </a:cubicBezTo>
                <a:lnTo>
                  <a:pt x="0" y="2448698"/>
                </a:lnTo>
                <a:lnTo>
                  <a:pt x="0" y="502996"/>
                </a:lnTo>
                <a:lnTo>
                  <a:pt x="0" y="269112"/>
                </a:lnTo>
                <a:cubicBezTo>
                  <a:pt x="0" y="209188"/>
                  <a:pt x="36434" y="157773"/>
                  <a:pt x="88359" y="135810"/>
                </a:cubicBezTo>
                <a:lnTo>
                  <a:pt x="127512" y="127905"/>
                </a:lnTo>
                <a:lnTo>
                  <a:pt x="129939" y="120091"/>
                </a:lnTo>
                <a:cubicBezTo>
                  <a:pt x="159788" y="49518"/>
                  <a:pt x="229668" y="0"/>
                  <a:pt x="311113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75000"/>
                </a:schemeClr>
              </a:gs>
              <a:gs pos="19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>
            <a:solidFill>
              <a:schemeClr val="accent1">
                <a:lumMod val="50000"/>
                <a:alpha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A3561D">
                      <a:lumMod val="82000"/>
                      <a:lumOff val="18000"/>
                    </a:srgbClr>
                  </a:gs>
                  <a:gs pos="100000">
                    <a:srgbClr val="A3561D"/>
                  </a:gs>
                </a:gsLst>
                <a:lin ang="2700000" scaled="1"/>
                <a:tileRect/>
              </a:gra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  <p:sp>
        <p:nvSpPr>
          <p:cNvPr id="60" name="文本框 31">
            <a:extLst>
              <a:ext uri="{FF2B5EF4-FFF2-40B4-BE49-F238E27FC236}">
                <a16:creationId xmlns:a16="http://schemas.microsoft.com/office/drawing/2014/main" id="{4102DB23-D6E0-4A02-B35F-E2FA46DBF53A}"/>
              </a:ext>
            </a:extLst>
          </p:cNvPr>
          <p:cNvSpPr txBox="1"/>
          <p:nvPr/>
        </p:nvSpPr>
        <p:spPr>
          <a:xfrm>
            <a:off x="594901" y="5286327"/>
            <a:ext cx="2622119" cy="39369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5AD2"/>
              </a:buClr>
              <a:buSzPct val="100000"/>
              <a:buFontTx/>
              <a:buNone/>
              <a:defRPr/>
            </a:pPr>
            <a:r>
              <a:rPr lang="zh-CN" altLang="en-US" sz="2000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+mn-ea"/>
                <a:sym typeface="+mn-lt"/>
              </a:rPr>
              <a:t>轻量化与长期建设</a:t>
            </a:r>
          </a:p>
        </p:txBody>
      </p:sp>
    </p:spTree>
    <p:extLst>
      <p:ext uri="{BB962C8B-B14F-4D97-AF65-F5344CB8AC3E}">
        <p14:creationId xmlns:p14="http://schemas.microsoft.com/office/powerpoint/2010/main" val="2640100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6118943" y="1925339"/>
            <a:ext cx="5034778" cy="478536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: 形状 14"/>
          <p:cNvSpPr/>
          <p:nvPr/>
        </p:nvSpPr>
        <p:spPr>
          <a:xfrm>
            <a:off x="13559427" y="508452"/>
            <a:ext cx="2837162" cy="1525356"/>
          </a:xfrm>
          <a:custGeom>
            <a:avLst/>
            <a:gdLst>
              <a:gd name="connsiteX0" fmla="*/ 0 w 2241629"/>
              <a:gd name="connsiteY0" fmla="*/ 0 h 1205177"/>
              <a:gd name="connsiteX1" fmla="*/ 2241629 w 2241629"/>
              <a:gd name="connsiteY1" fmla="*/ 0 h 1205177"/>
              <a:gd name="connsiteX2" fmla="*/ 2241629 w 2241629"/>
              <a:gd name="connsiteY2" fmla="*/ 1205177 h 1205177"/>
              <a:gd name="connsiteX3" fmla="*/ 0 w 2241629"/>
              <a:gd name="connsiteY3" fmla="*/ 1205177 h 1205177"/>
              <a:gd name="connsiteX4" fmla="*/ 0 w 2241629"/>
              <a:gd name="connsiteY4" fmla="*/ 0 h 1205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1629" h="1205177">
                <a:moveTo>
                  <a:pt x="0" y="0"/>
                </a:moveTo>
                <a:lnTo>
                  <a:pt x="2241629" y="0"/>
                </a:lnTo>
                <a:lnTo>
                  <a:pt x="2241629" y="1205177"/>
                </a:lnTo>
                <a:lnTo>
                  <a:pt x="0" y="120517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7160" numCol="1" spcCol="1270" anchor="ctr" anchorCtr="0">
            <a:noAutofit/>
          </a:bodyPr>
          <a:lstStyle/>
          <a:p>
            <a:pPr marL="0" lvl="0" indent="0" algn="l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3600" kern="1200"/>
          </a:p>
        </p:txBody>
      </p:sp>
      <p:sp>
        <p:nvSpPr>
          <p:cNvPr id="34" name="文本框 33"/>
          <p:cNvSpPr txBox="1"/>
          <p:nvPr/>
        </p:nvSpPr>
        <p:spPr>
          <a:xfrm>
            <a:off x="665043" y="328398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rgbClr val="005699"/>
                </a:solidFill>
                <a:latin typeface="微软雅黑" pitchFamily="34" charset="-122"/>
                <a:ea typeface="微软雅黑" pitchFamily="34" charset="-122"/>
              </a:rPr>
              <a:t>项目规划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5699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95" name="矩形"/>
          <p:cNvSpPr/>
          <p:nvPr/>
        </p:nvSpPr>
        <p:spPr>
          <a:xfrm>
            <a:off x="635597" y="1748406"/>
            <a:ext cx="3119332" cy="87712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137124" tIns="68562" rIns="137124" bIns="68562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130">
              <a:defRPr/>
            </a:pPr>
            <a:r>
              <a:rPr lang="zh-CN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Calibri"/>
              </a:rPr>
              <a:t>确定项目主题，采购设备，实现基础语音，图像识别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itchFamily="34" charset="-122"/>
              <a:ea typeface="微软雅黑" pitchFamily="34" charset="-122"/>
              <a:cs typeface="Calibri"/>
            </a:endParaRPr>
          </a:p>
          <a:p>
            <a:pPr marL="0" marR="0" lvl="0" indent="0" algn="l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itchFamily="34" charset="-122"/>
              <a:ea typeface="微软雅黑" pitchFamily="34" charset="-122"/>
              <a:cs typeface="Calibri"/>
            </a:endParaRPr>
          </a:p>
        </p:txBody>
      </p:sp>
      <p:sp>
        <p:nvSpPr>
          <p:cNvPr id="96" name="矩形"/>
          <p:cNvSpPr/>
          <p:nvPr/>
        </p:nvSpPr>
        <p:spPr>
          <a:xfrm>
            <a:off x="705467" y="1357809"/>
            <a:ext cx="1838251" cy="50779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137124" tIns="68562" rIns="137124" bIns="68562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rgbClr val="016DFF"/>
                    </a:gs>
                  </a:gsLst>
                  <a:lin ang="0" scaled="1"/>
                </a:gradFill>
                <a:latin typeface="微软雅黑" pitchFamily="34" charset="-122"/>
                <a:ea typeface="微软雅黑" pitchFamily="34" charset="-122"/>
              </a:rPr>
              <a:t>2026</a:t>
            </a:r>
            <a:r>
              <a:rPr lang="zh-CN" altLang="en-US" sz="2400" b="1" dirty="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rgbClr val="016DFF"/>
                    </a:gs>
                  </a:gsLst>
                  <a:lin ang="0" scaled="1"/>
                </a:gradFill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en-US" altLang="zh-CN" sz="2400" b="1" dirty="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rgbClr val="016DFF"/>
                    </a:gs>
                  </a:gsLst>
                  <a:lin ang="0" scaled="1"/>
                </a:gra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b="1" dirty="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rgbClr val="016DFF"/>
                    </a:gs>
                  </a:gsLst>
                  <a:lin ang="0" scaled="1"/>
                </a:gradFill>
                <a:latin typeface="微软雅黑" pitchFamily="34" charset="-122"/>
                <a:ea typeface="微软雅黑" pitchFamily="34" charset="-122"/>
              </a:rPr>
              <a:t>月</a:t>
            </a:r>
          </a:p>
        </p:txBody>
      </p:sp>
      <p:sp>
        <p:nvSpPr>
          <p:cNvPr id="97" name="矩形"/>
          <p:cNvSpPr/>
          <p:nvPr/>
        </p:nvSpPr>
        <p:spPr>
          <a:xfrm>
            <a:off x="459722" y="3340774"/>
            <a:ext cx="3650175" cy="630906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37124" tIns="68562" rIns="137124" bIns="68562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Calibri"/>
              </a:rPr>
              <a:t>ODAS</a:t>
            </a:r>
            <a:r>
              <a:rPr lang="zh-CN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Calibri"/>
              </a:rPr>
              <a:t>算法完成声源定位与目标检测语音分析总结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itchFamily="34" charset="-122"/>
              <a:ea typeface="微软雅黑" pitchFamily="34" charset="-122"/>
              <a:cs typeface="Calibri"/>
            </a:endParaRPr>
          </a:p>
        </p:txBody>
      </p:sp>
      <p:sp>
        <p:nvSpPr>
          <p:cNvPr id="98" name="矩形"/>
          <p:cNvSpPr/>
          <p:nvPr/>
        </p:nvSpPr>
        <p:spPr>
          <a:xfrm>
            <a:off x="978006" y="2640092"/>
            <a:ext cx="2453805" cy="50779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137124" tIns="68562" rIns="137124" bIns="68562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altLang="zh-CN" sz="2400" b="1" dirty="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rgbClr val="016DFF"/>
                    </a:gs>
                  </a:gsLst>
                  <a:lin ang="0" scaled="1"/>
                </a:gradFill>
                <a:latin typeface="微软雅黑" pitchFamily="34" charset="-122"/>
                <a:ea typeface="微软雅黑" pitchFamily="34" charset="-122"/>
              </a:rPr>
              <a:t>2026</a:t>
            </a:r>
            <a:r>
              <a:rPr lang="zh-CN" altLang="en-US" sz="2400" b="1" dirty="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rgbClr val="016DFF"/>
                    </a:gs>
                  </a:gsLst>
                  <a:lin ang="0" scaled="1"/>
                </a:gradFill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en-US" altLang="zh-CN" sz="2400" b="1" dirty="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rgbClr val="016DFF"/>
                    </a:gs>
                  </a:gsLst>
                  <a:lin ang="0" scaled="1"/>
                </a:gra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400" b="1" dirty="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rgbClr val="016DFF"/>
                    </a:gs>
                  </a:gsLst>
                  <a:lin ang="0" scaled="1"/>
                </a:gradFill>
                <a:latin typeface="微软雅黑" pitchFamily="34" charset="-122"/>
                <a:ea typeface="微软雅黑" pitchFamily="34" charset="-122"/>
              </a:rPr>
              <a:t>月上旬</a:t>
            </a:r>
          </a:p>
        </p:txBody>
      </p:sp>
      <p:sp>
        <p:nvSpPr>
          <p:cNvPr id="100" name="矩形"/>
          <p:cNvSpPr/>
          <p:nvPr/>
        </p:nvSpPr>
        <p:spPr>
          <a:xfrm>
            <a:off x="4920051" y="1462953"/>
            <a:ext cx="2957663" cy="50779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137124" tIns="68562" rIns="137124" bIns="68562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rgbClr val="016DFF"/>
                    </a:gs>
                  </a:gsLst>
                  <a:lin ang="0" scaled="1"/>
                </a:gradFill>
                <a:latin typeface="微软雅黑" pitchFamily="34" charset="-122"/>
                <a:ea typeface="微软雅黑" pitchFamily="34" charset="-122"/>
              </a:rPr>
              <a:t>2026</a:t>
            </a:r>
            <a:r>
              <a:rPr lang="zh-CN" altLang="en-US" sz="2400" b="1" dirty="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rgbClr val="016DFF"/>
                    </a:gs>
                  </a:gsLst>
                  <a:lin ang="0" scaled="1"/>
                </a:gradFill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en-US" altLang="zh-CN" sz="2400" b="1" dirty="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rgbClr val="016DFF"/>
                    </a:gs>
                  </a:gsLst>
                  <a:lin ang="0" scaled="1"/>
                </a:gra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400" b="1" dirty="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rgbClr val="016DFF"/>
                    </a:gs>
                  </a:gsLst>
                  <a:lin ang="0" scaled="1"/>
                </a:gradFill>
                <a:latin typeface="微软雅黑" pitchFamily="34" charset="-122"/>
                <a:ea typeface="微软雅黑" pitchFamily="34" charset="-122"/>
              </a:rPr>
              <a:t>月中下旬</a:t>
            </a:r>
          </a:p>
        </p:txBody>
      </p:sp>
      <p:sp>
        <p:nvSpPr>
          <p:cNvPr id="102" name="矩形"/>
          <p:cNvSpPr/>
          <p:nvPr/>
        </p:nvSpPr>
        <p:spPr>
          <a:xfrm>
            <a:off x="7142884" y="3463885"/>
            <a:ext cx="3090879" cy="50779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37124" tIns="68562" rIns="137124" bIns="68562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rgbClr val="016DFF"/>
                    </a:gs>
                  </a:gsLst>
                  <a:lin ang="0" scaled="1"/>
                </a:gradFill>
                <a:latin typeface="微软雅黑" pitchFamily="34" charset="-122"/>
                <a:ea typeface="微软雅黑" pitchFamily="34" charset="-122"/>
              </a:rPr>
              <a:t>2026</a:t>
            </a:r>
            <a:r>
              <a:rPr lang="zh-CN" altLang="en-US" sz="2400" b="1" dirty="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rgbClr val="016DFF"/>
                    </a:gs>
                  </a:gsLst>
                  <a:lin ang="0" scaled="1"/>
                </a:gradFill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en-US" altLang="zh-CN" sz="2400" b="1" dirty="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rgbClr val="016DFF"/>
                    </a:gs>
                  </a:gsLst>
                  <a:lin ang="0" scaled="1"/>
                </a:gra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400" b="1" dirty="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rgbClr val="016DFF"/>
                    </a:gs>
                  </a:gsLst>
                  <a:lin ang="0" scaled="1"/>
                </a:gradFill>
                <a:latin typeface="微软雅黑" pitchFamily="34" charset="-122"/>
                <a:ea typeface="微软雅黑" pitchFamily="34" charset="-122"/>
              </a:rPr>
              <a:t>月</a:t>
            </a:r>
            <a:r>
              <a:rPr lang="en-US" altLang="zh-CN" sz="2400" b="1" dirty="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rgbClr val="016DFF"/>
                    </a:gs>
                  </a:gsLst>
                  <a:lin ang="0" scaled="1"/>
                </a:gradFill>
                <a:latin typeface="微软雅黑" pitchFamily="34" charset="-122"/>
                <a:ea typeface="微软雅黑" pitchFamily="34" charset="-122"/>
              </a:rPr>
              <a:t>-6</a:t>
            </a:r>
            <a:r>
              <a:rPr lang="zh-CN" altLang="en-US" sz="2400" b="1" dirty="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rgbClr val="016DFF"/>
                    </a:gs>
                  </a:gsLst>
                  <a:lin ang="0" scaled="1"/>
                </a:gradFill>
                <a:latin typeface="微软雅黑" pitchFamily="34" charset="-122"/>
                <a:ea typeface="微软雅黑" pitchFamily="34" charset="-122"/>
              </a:rPr>
              <a:t>月</a:t>
            </a:r>
          </a:p>
        </p:txBody>
      </p:sp>
      <p:sp>
        <p:nvSpPr>
          <p:cNvPr id="104" name="矩形"/>
          <p:cNvSpPr/>
          <p:nvPr/>
        </p:nvSpPr>
        <p:spPr>
          <a:xfrm>
            <a:off x="3380647" y="4652683"/>
            <a:ext cx="1838251" cy="50779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137124" tIns="68562" rIns="137124" bIns="68562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00" b="1" dirty="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rgbClr val="016DFF"/>
                    </a:gs>
                  </a:gsLst>
                  <a:lin ang="0" scaled="1"/>
                </a:gradFill>
                <a:latin typeface="微软雅黑" pitchFamily="34" charset="-122"/>
                <a:ea typeface="微软雅黑" pitchFamily="34" charset="-122"/>
              </a:rPr>
              <a:t>2026</a:t>
            </a:r>
            <a:r>
              <a:rPr lang="zh-CN" altLang="en-US" sz="2400" b="1" dirty="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rgbClr val="016DFF"/>
                    </a:gs>
                  </a:gsLst>
                  <a:lin ang="0" scaled="1"/>
                </a:gradFill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en-US" altLang="zh-CN" sz="2400" b="1" dirty="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rgbClr val="016DFF"/>
                    </a:gs>
                  </a:gsLst>
                  <a:lin ang="0" scaled="1"/>
                </a:gra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400" b="1" dirty="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rgbClr val="016DFF"/>
                    </a:gs>
                  </a:gsLst>
                  <a:lin ang="0" scaled="1"/>
                </a:gradFill>
                <a:latin typeface="微软雅黑" pitchFamily="34" charset="-122"/>
                <a:ea typeface="微软雅黑" pitchFamily="34" charset="-122"/>
              </a:rPr>
              <a:t>月</a:t>
            </a:r>
          </a:p>
        </p:txBody>
      </p:sp>
      <p:sp>
        <p:nvSpPr>
          <p:cNvPr id="105" name="直线"/>
          <p:cNvSpPr/>
          <p:nvPr/>
        </p:nvSpPr>
        <p:spPr>
          <a:xfrm flipV="1">
            <a:off x="671991" y="1422974"/>
            <a:ext cx="2" cy="1004730"/>
          </a:xfrm>
          <a:prstGeom prst="line">
            <a:avLst/>
          </a:prstGeom>
          <a:noFill/>
          <a:ln w="19050" cap="flat" cmpd="sng">
            <a:solidFill>
              <a:srgbClr val="00B0F0">
                <a:alpha val="99000"/>
              </a:srgbClr>
            </a:solidFill>
            <a:prstDash val="solid"/>
            <a:round/>
            <a:tailEnd type="oval" w="lg" len="lg"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06" name="直线"/>
          <p:cNvSpPr/>
          <p:nvPr/>
        </p:nvSpPr>
        <p:spPr>
          <a:xfrm flipH="1">
            <a:off x="3453386" y="2528077"/>
            <a:ext cx="0" cy="783776"/>
          </a:xfrm>
          <a:prstGeom prst="line">
            <a:avLst/>
          </a:prstGeom>
          <a:noFill/>
          <a:ln w="19050" cap="flat" cmpd="sng">
            <a:solidFill>
              <a:srgbClr val="00B0F0"/>
            </a:solidFill>
            <a:prstDash val="solid"/>
            <a:round/>
            <a:tailEnd type="oval" w="lg" len="lg"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07" name="直线"/>
          <p:cNvSpPr/>
          <p:nvPr/>
        </p:nvSpPr>
        <p:spPr>
          <a:xfrm flipV="1">
            <a:off x="4895299" y="1759486"/>
            <a:ext cx="0" cy="880606"/>
          </a:xfrm>
          <a:prstGeom prst="line">
            <a:avLst/>
          </a:prstGeom>
          <a:noFill/>
          <a:ln w="19050" cap="flat" cmpd="sng">
            <a:solidFill>
              <a:srgbClr val="00B0F0"/>
            </a:solidFill>
            <a:prstDash val="solid"/>
            <a:round/>
            <a:tailEnd type="oval" w="lg" len="lg"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08" name="直线"/>
          <p:cNvSpPr/>
          <p:nvPr/>
        </p:nvSpPr>
        <p:spPr>
          <a:xfrm flipV="1">
            <a:off x="7115067" y="3575241"/>
            <a:ext cx="0" cy="957960"/>
          </a:xfrm>
          <a:prstGeom prst="line">
            <a:avLst/>
          </a:prstGeom>
          <a:noFill/>
          <a:ln w="19050" cap="flat" cmpd="sng">
            <a:solidFill>
              <a:srgbClr val="00B0F0"/>
            </a:solidFill>
            <a:prstDash val="solid"/>
            <a:round/>
            <a:tailEnd type="oval" w="lg" len="lg"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09" name="直线"/>
          <p:cNvSpPr/>
          <p:nvPr/>
        </p:nvSpPr>
        <p:spPr>
          <a:xfrm flipH="1">
            <a:off x="5363063" y="4526448"/>
            <a:ext cx="0" cy="1077631"/>
          </a:xfrm>
          <a:prstGeom prst="line">
            <a:avLst/>
          </a:prstGeom>
          <a:noFill/>
          <a:ln w="19050" cap="flat" cmpd="sng">
            <a:solidFill>
              <a:srgbClr val="00B0F0"/>
            </a:solidFill>
            <a:prstDash val="solid"/>
            <a:round/>
            <a:tailEnd type="oval" w="lg" len="lg"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10" name="直线"/>
          <p:cNvSpPr/>
          <p:nvPr/>
        </p:nvSpPr>
        <p:spPr>
          <a:xfrm flipH="1">
            <a:off x="10307983" y="4850453"/>
            <a:ext cx="0" cy="1262800"/>
          </a:xfrm>
          <a:prstGeom prst="line">
            <a:avLst/>
          </a:prstGeom>
          <a:noFill/>
          <a:ln w="19050" cap="flat" cmpd="sng">
            <a:solidFill>
              <a:srgbClr val="00B0F0"/>
            </a:solidFill>
            <a:prstDash val="solid"/>
            <a:round/>
            <a:tailEnd type="oval" w="lg" len="lg"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11" name="矩形"/>
          <p:cNvSpPr/>
          <p:nvPr/>
        </p:nvSpPr>
        <p:spPr>
          <a:xfrm>
            <a:off x="7182196" y="5630267"/>
            <a:ext cx="3113013" cy="384684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37124" tIns="68562" rIns="137124" bIns="68562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Calibri"/>
              </a:rPr>
              <a:t>展示项目和成果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itchFamily="34" charset="-122"/>
              <a:ea typeface="微软雅黑" pitchFamily="34" charset="-122"/>
              <a:cs typeface="Calibri"/>
            </a:endParaRPr>
          </a:p>
        </p:txBody>
      </p:sp>
      <p:sp>
        <p:nvSpPr>
          <p:cNvPr id="112" name="矩形"/>
          <p:cNvSpPr/>
          <p:nvPr/>
        </p:nvSpPr>
        <p:spPr>
          <a:xfrm>
            <a:off x="8456959" y="5157226"/>
            <a:ext cx="1838251" cy="50779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137124" tIns="68562" rIns="137124" bIns="68562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00" b="1" dirty="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rgbClr val="016DFF"/>
                    </a:gs>
                  </a:gsLst>
                  <a:lin ang="0" scaled="1"/>
                </a:gradFill>
                <a:latin typeface="微软雅黑" pitchFamily="34" charset="-122"/>
                <a:ea typeface="微软雅黑" pitchFamily="34" charset="-122"/>
              </a:rPr>
              <a:t>2026</a:t>
            </a:r>
            <a:r>
              <a:rPr lang="zh-CN" altLang="en-US" sz="2400" b="1" dirty="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rgbClr val="016DFF"/>
                    </a:gs>
                  </a:gsLst>
                  <a:lin ang="0" scaled="1"/>
                </a:gradFill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en-US" altLang="zh-CN" sz="2400" b="1" dirty="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rgbClr val="016DFF"/>
                    </a:gs>
                  </a:gsLst>
                  <a:lin ang="0" scaled="1"/>
                </a:gradFill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en-US" sz="2400" b="1" dirty="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rgbClr val="016DFF"/>
                    </a:gs>
                  </a:gsLst>
                  <a:lin ang="0" scaled="1"/>
                </a:gradFill>
                <a:latin typeface="微软雅黑" pitchFamily="34" charset="-122"/>
                <a:ea typeface="微软雅黑" pitchFamily="34" charset="-122"/>
              </a:rPr>
              <a:t>月</a:t>
            </a:r>
          </a:p>
        </p:txBody>
      </p:sp>
      <p:sp>
        <p:nvSpPr>
          <p:cNvPr id="113" name="Freeform 5"/>
          <p:cNvSpPr/>
          <p:nvPr/>
        </p:nvSpPr>
        <p:spPr bwMode="auto">
          <a:xfrm>
            <a:off x="313109" y="2427705"/>
            <a:ext cx="11732036" cy="2576255"/>
          </a:xfrm>
          <a:custGeom>
            <a:avLst/>
            <a:gdLst/>
            <a:ahLst/>
            <a:cxnLst>
              <a:cxn ang="0">
                <a:pos x="1548" y="674"/>
              </a:cxn>
              <a:cxn ang="0">
                <a:pos x="1577" y="645"/>
              </a:cxn>
              <a:cxn ang="0">
                <a:pos x="1735" y="724"/>
              </a:cxn>
              <a:cxn ang="0">
                <a:pos x="1437" y="784"/>
              </a:cxn>
              <a:cxn ang="0">
                <a:pos x="1474" y="748"/>
              </a:cxn>
              <a:cxn ang="0">
                <a:pos x="1328" y="742"/>
              </a:cxn>
              <a:cxn ang="0">
                <a:pos x="930" y="692"/>
              </a:cxn>
              <a:cxn ang="0">
                <a:pos x="571" y="498"/>
              </a:cxn>
              <a:cxn ang="0">
                <a:pos x="702" y="361"/>
              </a:cxn>
              <a:cxn ang="0">
                <a:pos x="948" y="236"/>
              </a:cxn>
              <a:cxn ang="0">
                <a:pos x="0" y="0"/>
              </a:cxn>
              <a:cxn ang="0">
                <a:pos x="993" y="243"/>
              </a:cxn>
              <a:cxn ang="0">
                <a:pos x="777" y="359"/>
              </a:cxn>
              <a:cxn ang="0">
                <a:pos x="678" y="520"/>
              </a:cxn>
              <a:cxn ang="0">
                <a:pos x="1328" y="670"/>
              </a:cxn>
              <a:cxn ang="0">
                <a:pos x="1548" y="674"/>
              </a:cxn>
            </a:cxnLst>
            <a:rect l="0" t="0" r="r" b="b"/>
            <a:pathLst>
              <a:path w="1735" h="784">
                <a:moveTo>
                  <a:pt x="1548" y="674"/>
                </a:moveTo>
                <a:cubicBezTo>
                  <a:pt x="1577" y="645"/>
                  <a:pt x="1577" y="645"/>
                  <a:pt x="1577" y="645"/>
                </a:cubicBezTo>
                <a:cubicBezTo>
                  <a:pt x="1735" y="724"/>
                  <a:pt x="1735" y="724"/>
                  <a:pt x="1735" y="724"/>
                </a:cubicBezTo>
                <a:cubicBezTo>
                  <a:pt x="1437" y="784"/>
                  <a:pt x="1437" y="784"/>
                  <a:pt x="1437" y="784"/>
                </a:cubicBezTo>
                <a:cubicBezTo>
                  <a:pt x="1474" y="748"/>
                  <a:pt x="1474" y="748"/>
                  <a:pt x="1474" y="748"/>
                </a:cubicBezTo>
                <a:cubicBezTo>
                  <a:pt x="1425" y="747"/>
                  <a:pt x="1376" y="745"/>
                  <a:pt x="1328" y="742"/>
                </a:cubicBezTo>
                <a:cubicBezTo>
                  <a:pt x="1190" y="733"/>
                  <a:pt x="1058" y="716"/>
                  <a:pt x="930" y="692"/>
                </a:cubicBezTo>
                <a:cubicBezTo>
                  <a:pt x="698" y="635"/>
                  <a:pt x="578" y="571"/>
                  <a:pt x="571" y="498"/>
                </a:cubicBezTo>
                <a:cubicBezTo>
                  <a:pt x="562" y="453"/>
                  <a:pt x="606" y="407"/>
                  <a:pt x="702" y="361"/>
                </a:cubicBezTo>
                <a:cubicBezTo>
                  <a:pt x="824" y="313"/>
                  <a:pt x="906" y="271"/>
                  <a:pt x="948" y="236"/>
                </a:cubicBezTo>
                <a:cubicBezTo>
                  <a:pt x="1053" y="130"/>
                  <a:pt x="737" y="51"/>
                  <a:pt x="0" y="0"/>
                </a:cubicBezTo>
                <a:cubicBezTo>
                  <a:pt x="754" y="31"/>
                  <a:pt x="1085" y="112"/>
                  <a:pt x="993" y="243"/>
                </a:cubicBezTo>
                <a:cubicBezTo>
                  <a:pt x="968" y="274"/>
                  <a:pt x="896" y="312"/>
                  <a:pt x="777" y="359"/>
                </a:cubicBezTo>
                <a:cubicBezTo>
                  <a:pt x="664" y="409"/>
                  <a:pt x="631" y="463"/>
                  <a:pt x="678" y="520"/>
                </a:cubicBezTo>
                <a:cubicBezTo>
                  <a:pt x="761" y="606"/>
                  <a:pt x="977" y="656"/>
                  <a:pt x="1328" y="670"/>
                </a:cubicBezTo>
                <a:cubicBezTo>
                  <a:pt x="1396" y="673"/>
                  <a:pt x="1470" y="674"/>
                  <a:pt x="1548" y="674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rgbClr val="025BB5"/>
              </a:gs>
            </a:gsLst>
            <a:lin ang="2700000" scaled="1"/>
          </a:gradFill>
          <a:ln w="9525">
            <a:noFill/>
            <a:round/>
          </a:ln>
        </p:spPr>
        <p:txBody>
          <a:bodyPr lIns="182476" tIns="91238" rIns="182476" bIns="91238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0593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Arial" charset="0"/>
            </a:endParaRPr>
          </a:p>
        </p:txBody>
      </p:sp>
      <p:sp>
        <p:nvSpPr>
          <p:cNvPr id="2" name="矩形"/>
          <p:cNvSpPr/>
          <p:nvPr/>
        </p:nvSpPr>
        <p:spPr>
          <a:xfrm>
            <a:off x="1484334" y="5124315"/>
            <a:ext cx="3788872" cy="630906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37124" tIns="68562" rIns="137124" bIns="68562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Calibri"/>
              </a:rPr>
              <a:t>将模型部署到</a:t>
            </a:r>
            <a:r>
              <a:rPr lang="en-US" altLang="zh-CN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Calibri"/>
              </a:rPr>
              <a:t>Intel DK-2500</a:t>
            </a:r>
            <a:r>
              <a:rPr lang="zh-CN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Calibri"/>
              </a:rPr>
              <a:t>平台</a:t>
            </a:r>
            <a:endParaRPr lang="en-US" altLang="zh-CN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alibri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Calibri"/>
              </a:rPr>
              <a:t>优化算法，对鸟类识别检测等场景测试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itchFamily="34" charset="-122"/>
              <a:ea typeface="微软雅黑" pitchFamily="34" charset="-122"/>
              <a:cs typeface="Calibri"/>
            </a:endParaRPr>
          </a:p>
        </p:txBody>
      </p:sp>
      <p:sp>
        <p:nvSpPr>
          <p:cNvPr id="3" name="矩形"/>
          <p:cNvSpPr/>
          <p:nvPr/>
        </p:nvSpPr>
        <p:spPr>
          <a:xfrm>
            <a:off x="6315586" y="3900149"/>
            <a:ext cx="3788872" cy="630906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37124" tIns="68562" rIns="137124" bIns="68562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Calibri"/>
              </a:rPr>
              <a:t>针对可能遇到的问题具体攻坚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itchFamily="34" charset="-122"/>
              <a:ea typeface="微软雅黑" pitchFamily="34" charset="-122"/>
              <a:cs typeface="Calibri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Calibri"/>
              </a:rPr>
              <a:t>提升性能</a:t>
            </a:r>
          </a:p>
        </p:txBody>
      </p:sp>
      <p:sp>
        <p:nvSpPr>
          <p:cNvPr id="99" name="矩形"/>
          <p:cNvSpPr/>
          <p:nvPr/>
        </p:nvSpPr>
        <p:spPr>
          <a:xfrm>
            <a:off x="4978572" y="1910533"/>
            <a:ext cx="4845681" cy="87712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137124" tIns="68562" rIns="137124" bIns="68562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Calibri"/>
              </a:rPr>
              <a:t>实现</a:t>
            </a:r>
            <a:r>
              <a:rPr lang="en-US" altLang="zh-CN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Calibri"/>
              </a:rPr>
              <a:t>ODAS</a:t>
            </a:r>
            <a:r>
              <a:rPr lang="zh-CN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Calibri"/>
              </a:rPr>
              <a:t>多声源分离</a:t>
            </a:r>
            <a:endParaRPr lang="en-US" altLang="zh-CN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Calibri"/>
              </a:rPr>
              <a:t>实现鸟类声纹与图像识别的最小模型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itchFamily="34" charset="-122"/>
              <a:ea typeface="微软雅黑" pitchFamily="34" charset="-122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Calibri"/>
              </a:rPr>
              <a:t>将可实现范围拓展到远距离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Arial Black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</TotalTime>
  <Words>777</Words>
  <Application>Microsoft Office PowerPoint</Application>
  <PresentationFormat>宽屏</PresentationFormat>
  <Paragraphs>68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等线</vt:lpstr>
      <vt:lpstr>方正公文小标宋</vt:lpstr>
      <vt:lpstr>华文新魏</vt:lpstr>
      <vt:lpstr>思源黑体 CN Bold</vt:lpstr>
      <vt:lpstr>微软雅黑</vt:lpstr>
      <vt:lpstr>微软雅黑 Light</vt:lpstr>
      <vt:lpstr>字魂59号-创粗黑</vt:lpstr>
      <vt:lpstr>Arial</vt:lpstr>
      <vt:lpstr>Calibri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Taniaq</dc:creator>
  <cp:lastModifiedBy>泽宇 耿</cp:lastModifiedBy>
  <cp:revision>90</cp:revision>
  <dcterms:created xsi:type="dcterms:W3CDTF">1900-01-01T00:00:00Z</dcterms:created>
  <dcterms:modified xsi:type="dcterms:W3CDTF">2026-03-21T17:18:18Z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3081-12.40.0</vt:lpwstr>
  </property>
  <property fmtid="{D5CDD505-2E9C-101B-9397-08002B2CF9AE}" pid="3" name="ICV">
    <vt:lpwstr>162F89C550B04AFD9F7D43170C3FE7F3_12</vt:lpwstr>
  </property>
</Properties>
</file>